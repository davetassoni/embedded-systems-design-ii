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embeddedFontLst>
    <p:embeddedFont>
      <p:font typeface="Raleway"/>
      <p:regular r:id="rId28"/>
      <p:bold r:id="rId29"/>
      <p:italic r:id="rId30"/>
      <p:boldItalic r:id="rId31"/>
    </p:embeddedFont>
    <p:embeddedFont>
      <p:font typeface="Roboto"/>
      <p:regular r:id="rId32"/>
      <p:bold r:id="rId33"/>
      <p:italic r:id="rId34"/>
      <p:boldItalic r:id="rId35"/>
    </p:embeddedFont>
    <p:embeddedFont>
      <p:font typeface="Lato"/>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B595FFD-5A2C-4DB9-B461-D8853E509F22}">
  <a:tblStyle styleId="{8B595FFD-5A2C-4DB9-B461-D8853E509F2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Raleway-regular.fnt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aleway-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aleway-boldItalic.fntdata"/><Relationship Id="rId30" Type="http://schemas.openxmlformats.org/officeDocument/2006/relationships/font" Target="fonts/Raleway-italic.fntdata"/><Relationship Id="rId11" Type="http://schemas.openxmlformats.org/officeDocument/2006/relationships/slide" Target="slides/slide5.xml"/><Relationship Id="rId33" Type="http://schemas.openxmlformats.org/officeDocument/2006/relationships/font" Target="fonts/Roboto-bold.fntdata"/><Relationship Id="rId10" Type="http://schemas.openxmlformats.org/officeDocument/2006/relationships/slide" Target="slides/slide4.xml"/><Relationship Id="rId32" Type="http://schemas.openxmlformats.org/officeDocument/2006/relationships/font" Target="fonts/Roboto-regular.fntdata"/><Relationship Id="rId13" Type="http://schemas.openxmlformats.org/officeDocument/2006/relationships/slide" Target="slides/slide7.xml"/><Relationship Id="rId35" Type="http://schemas.openxmlformats.org/officeDocument/2006/relationships/font" Target="fonts/Roboto-boldItalic.fntdata"/><Relationship Id="rId12" Type="http://schemas.openxmlformats.org/officeDocument/2006/relationships/slide" Target="slides/slide6.xml"/><Relationship Id="rId34" Type="http://schemas.openxmlformats.org/officeDocument/2006/relationships/font" Target="fonts/Roboto-italic.fntdata"/><Relationship Id="rId15" Type="http://schemas.openxmlformats.org/officeDocument/2006/relationships/slide" Target="slides/slide9.xml"/><Relationship Id="rId37" Type="http://schemas.openxmlformats.org/officeDocument/2006/relationships/font" Target="fonts/Lato-bold.fntdata"/><Relationship Id="rId14" Type="http://schemas.openxmlformats.org/officeDocument/2006/relationships/slide" Target="slides/slide8.xml"/><Relationship Id="rId36" Type="http://schemas.openxmlformats.org/officeDocument/2006/relationships/font" Target="fonts/Lato-regular.fntdata"/><Relationship Id="rId17" Type="http://schemas.openxmlformats.org/officeDocument/2006/relationships/slide" Target="slides/slide11.xml"/><Relationship Id="rId39" Type="http://schemas.openxmlformats.org/officeDocument/2006/relationships/font" Target="fonts/Lato-boldItalic.fntdata"/><Relationship Id="rId16" Type="http://schemas.openxmlformats.org/officeDocument/2006/relationships/slide" Target="slides/slide10.xml"/><Relationship Id="rId38" Type="http://schemas.openxmlformats.org/officeDocument/2006/relationships/font" Target="fonts/Lato-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caa1f43b3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caa1f43b3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 Everyone, we are Team Tharros. Athaxes suggested the name mainly because it sounds cool, but </a:t>
            </a:r>
            <a:r>
              <a:rPr lang="en">
                <a:solidFill>
                  <a:schemeClr val="dk1"/>
                </a:solidFill>
              </a:rPr>
              <a:t>Tharros is Greek for Courage</a:t>
            </a:r>
            <a:r>
              <a:rPr lang="en"/>
              <a:t>, so we like to think of ourselves as a courageous group.</a:t>
            </a:r>
            <a:r>
              <a:rPr lang="en"/>
              <a:t> For our team members, we have Athaxes with a major function of GUI, Brian on Firmware, Dave as business, and both Hasnain and Ryan as Software. Each of us also has our minor function as Algorithm Dev.</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caa1f43b3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caa1f43b3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goal of the project is to create an FPGA based tennis ball tracker for the United States Tennis Association.</a:t>
            </a:r>
            <a:endParaRPr/>
          </a:p>
          <a:p>
            <a:pPr indent="0" lvl="0" marL="0" rtl="0" algn="l">
              <a:spcBef>
                <a:spcPts val="0"/>
              </a:spcBef>
              <a:spcAft>
                <a:spcPts val="0"/>
              </a:spcAft>
              <a:buNone/>
            </a:pPr>
            <a:r>
              <a:rPr lang="en"/>
              <a:t>The tracking </a:t>
            </a:r>
            <a:r>
              <a:rPr lang="en"/>
              <a:t>system must be able to accurately identify the position of the ball within 3D space in order to determine if the ball is out of bounds when it strikes the surface of the court.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ce7d4a5a7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ce7d4a5a7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We’ll start by </a:t>
            </a:r>
            <a:r>
              <a:rPr lang="en"/>
              <a:t>taking</a:t>
            </a:r>
            <a:r>
              <a:rPr lang="en"/>
              <a:t> a look at the system requirements and how we plan on implementing them into our design.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ceb4b15742_3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ceb4b15742_3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Our plan of work first begins with calibrating the camera - making sure that the system works correctly, is positioned how we’d like it to be, and that it remains consistent enough so that we are able to gauge our tracking accuracy.</a:t>
            </a:r>
            <a:endParaRPr>
              <a:solidFill>
                <a:schemeClr val="dk1"/>
              </a:solidFill>
            </a:endParaRPr>
          </a:p>
          <a:p>
            <a:pPr indent="0" lvl="0" marL="0" rtl="0" algn="l">
              <a:spcBef>
                <a:spcPts val="0"/>
              </a:spcBef>
              <a:spcAft>
                <a:spcPts val="0"/>
              </a:spcAft>
              <a:buNone/>
            </a:pPr>
            <a:r>
              <a:rPr lang="en">
                <a:solidFill>
                  <a:schemeClr val="dk1"/>
                </a:solidFill>
              </a:rPr>
              <a:t>To calibrate our cameras on the snickerdoodle, we’ll be using the MATLAB stereo camera calibration application. The calibration app is fairly straightforward, and ensures that our camera system will be tracking correctly. </a:t>
            </a:r>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Next we’ll employ a few algorithms to calculate the ball’s velocity when it moves positions and its coefficient of restitution from its determined position in 3d space.</a:t>
            </a:r>
            <a:endParaRPr>
              <a:solidFill>
                <a:schemeClr val="dk1"/>
              </a:solidFill>
            </a:endParaRPr>
          </a:p>
          <a:p>
            <a:pPr indent="0" lvl="0" marL="0" rtl="0" algn="l">
              <a:spcBef>
                <a:spcPts val="0"/>
              </a:spcBef>
              <a:spcAft>
                <a:spcPts val="0"/>
              </a:spcAft>
              <a:buNone/>
            </a:pPr>
            <a:r>
              <a:rPr lang="en">
                <a:solidFill>
                  <a:schemeClr val="dk1"/>
                </a:solidFill>
              </a:rPr>
              <a:t>The coefficient of restitution is the ratio of the final to initial velocity  between two objects after they collide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To determine the coefficient for our court, we’ll be running a small experiment similar to the diagram we provided in which:</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We’ll drop the ball several times and measure the heights of their bounces</a:t>
            </a:r>
            <a:endParaRPr>
              <a:solidFill>
                <a:schemeClr val="dk1"/>
              </a:solidFill>
            </a:endParaRPr>
          </a:p>
          <a:p>
            <a:pPr indent="0" lvl="0" marL="0" rtl="0" algn="l">
              <a:spcBef>
                <a:spcPts val="0"/>
              </a:spcBef>
              <a:spcAft>
                <a:spcPts val="0"/>
              </a:spcAft>
              <a:buNone/>
            </a:pPr>
            <a:r>
              <a:rPr lang="en">
                <a:solidFill>
                  <a:schemeClr val="dk1"/>
                </a:solidFill>
              </a:rPr>
              <a:t>We then average the heights, take the square root of that averaged number, and divide it by the initial drop height.</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Giving us our coefficient of restitution, as a value between between 0 and 1.</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For some of these measurements we will also be measuring error rates to make sure that our system is working within a certain set of bounds, with not too much variation between each run.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The project specifications also call for having green leds turn on for half a second when the ball bounces, and flash continuously if the ball leaves the court.</a:t>
            </a:r>
            <a:endParaRPr>
              <a:solidFill>
                <a:schemeClr val="dk1"/>
              </a:solidFill>
            </a:endParaRPr>
          </a:p>
          <a:p>
            <a:pPr indent="0" lvl="0" marL="0" rtl="0" algn="l">
              <a:spcBef>
                <a:spcPts val="0"/>
              </a:spcBef>
              <a:spcAft>
                <a:spcPts val="0"/>
              </a:spcAft>
              <a:buNone/>
            </a:pPr>
            <a:r>
              <a:rPr lang="en">
                <a:solidFill>
                  <a:schemeClr val="dk1"/>
                </a:solidFill>
              </a:rPr>
              <a:t>To accomplish this, the camera calibration and april tags (which help us visualize the court in 3d space) will need to be fully functional.</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If we have an accurate absolute coordinate system, then we will also have an accurate court border.</a:t>
            </a:r>
            <a:endParaRPr>
              <a:solidFill>
                <a:schemeClr val="dk1"/>
              </a:solidFill>
            </a:endParaRPr>
          </a:p>
          <a:p>
            <a:pPr indent="0" lvl="0" marL="0" rtl="0" algn="l">
              <a:spcBef>
                <a:spcPts val="0"/>
              </a:spcBef>
              <a:spcAft>
                <a:spcPts val="0"/>
              </a:spcAft>
              <a:buNone/>
            </a:pPr>
            <a:r>
              <a:rPr lang="en">
                <a:solidFill>
                  <a:schemeClr val="dk1"/>
                </a:solidFill>
              </a:rPr>
              <a:t>We will also be tracking the ball in 3d space and our idea is to look for changes in velocity.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When the ball impacts the ground, its velocity will change in magnitude and direction, so we know it’ll have made contact, and the program will toggle the LEDS on for half a second.</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And when the system fails to locate the ball when it is out of the court, the leds will continuously flash to signify that.</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ce7d4a5a75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ce7d4a5a75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caa1f43b3f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caa1f43b3f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Of course, we’ll be using the </a:t>
            </a:r>
            <a:r>
              <a:rPr lang="en"/>
              <a:t>Snickerdoodle</a:t>
            </a:r>
            <a:r>
              <a:rPr lang="en"/>
              <a:t> black </a:t>
            </a:r>
            <a:r>
              <a:rPr lang="en"/>
              <a:t>system</a:t>
            </a:r>
            <a:r>
              <a:rPr lang="en"/>
              <a:t> on a module for this project. It’s built on the Xilinx Zynq 7020 SoC, and we will be utilizing built in features to help with the project. For example, we can use the board’s built in dual-band wi-fi for wireless communications, and the dual </a:t>
            </a:r>
            <a:r>
              <a:rPr lang="en"/>
              <a:t>stereo cameras for ball tracking. There are multiple led’s on the board too, and those will be used as status leds to report ball information.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caa1f43b3f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caa1f43b3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hardware risks are straightforward, with the most critical one being an accidental unplug during use. This would immediately shut down the whole system, so we want to be wary of that.</a:t>
            </a:r>
            <a:endParaRPr/>
          </a:p>
          <a:p>
            <a:pPr indent="0" lvl="0" marL="0" rtl="0" algn="l">
              <a:spcBef>
                <a:spcPts val="0"/>
              </a:spcBef>
              <a:spcAft>
                <a:spcPts val="0"/>
              </a:spcAft>
              <a:buNone/>
            </a:pPr>
            <a:r>
              <a:rPr lang="en"/>
              <a:t>Other somewhat common risks to be on the lookout for include an unstable or weak </a:t>
            </a:r>
            <a:r>
              <a:rPr lang="en"/>
              <a:t>wifi</a:t>
            </a:r>
            <a:r>
              <a:rPr lang="en"/>
              <a:t> connection, an out of focus camera, or even improper camera calibration. We need to ensure that the cameras are calibrated with the correct settings so our system is accurate.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ce7d4a5a75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ce7d4a5a75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caa1f43b3f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caa1f43b3f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caa1f43b3f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caa1f43b3f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Few software risks also come along with our design. For example, a partially obstructed object might not get recognized by the software itself. There is also a risk of </a:t>
            </a:r>
            <a:r>
              <a:rPr lang="en"/>
              <a:t>hardware malfunction. The hardware may fail to capture the image data either partially or fully.</a:t>
            </a:r>
            <a:endParaRPr/>
          </a:p>
          <a:p>
            <a:pPr indent="0" lvl="0" marL="0" rtl="0" algn="l">
              <a:spcBef>
                <a:spcPts val="0"/>
              </a:spcBef>
              <a:spcAft>
                <a:spcPts val="0"/>
              </a:spcAft>
              <a:buNone/>
            </a:pPr>
            <a:r>
              <a:rPr lang="en"/>
              <a:t>The Image data could also get lost if we do not have a solid Wi-Fi connection. There is also a risk of the initial calibration not running properly which would cause the software not being able to recognize any object at all.</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ce7d4a5a75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ce7d4a5a75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caa1f43b3f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caa1f43b3f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GUI will be in Python + REMI</a:t>
            </a:r>
            <a:endParaRPr/>
          </a:p>
          <a:p>
            <a:pPr indent="0" lvl="0" marL="0" rtl="0" algn="l">
              <a:spcBef>
                <a:spcPts val="0"/>
              </a:spcBef>
              <a:spcAft>
                <a:spcPts val="0"/>
              </a:spcAft>
              <a:buNone/>
            </a:pPr>
            <a:r>
              <a:rPr lang="en"/>
              <a:t>It </a:t>
            </a:r>
            <a:r>
              <a:rPr lang="en"/>
              <a:t>will have </a:t>
            </a:r>
            <a:r>
              <a:rPr lang="en"/>
              <a:t>System Accuracy Data Plot of our test + allow the user to perform test (repeat)</a:t>
            </a:r>
            <a:endParaRPr/>
          </a:p>
          <a:p>
            <a:pPr indent="0" lvl="0" marL="0" rtl="0" algn="l">
              <a:spcBef>
                <a:spcPts val="0"/>
              </a:spcBef>
              <a:spcAft>
                <a:spcPts val="0"/>
              </a:spcAft>
              <a:buNone/>
            </a:pPr>
            <a:r>
              <a:rPr lang="en"/>
              <a:t>Coefficient of restitution Diagram of our test + </a:t>
            </a:r>
            <a:r>
              <a:rPr lang="en">
                <a:solidFill>
                  <a:schemeClr val="dk1"/>
                </a:solidFill>
              </a:rPr>
              <a:t>allow the user to perform test</a:t>
            </a:r>
            <a:endParaRPr/>
          </a:p>
          <a:p>
            <a:pPr indent="0" lvl="0" marL="0" rtl="0" algn="l">
              <a:spcBef>
                <a:spcPts val="0"/>
              </a:spcBef>
              <a:spcAft>
                <a:spcPts val="0"/>
              </a:spcAft>
              <a:buNone/>
            </a:pPr>
            <a:r>
              <a:rPr lang="en"/>
              <a:t>Video Replay of 3D viz tennis court using x,y,z of the ball </a:t>
            </a:r>
            <a:endParaRPr/>
          </a:p>
          <a:p>
            <a:pPr indent="0" lvl="0" marL="0" rtl="0" algn="l">
              <a:spcBef>
                <a:spcPts val="0"/>
              </a:spcBef>
              <a:spcAft>
                <a:spcPts val="0"/>
              </a:spcAft>
              <a:buNone/>
            </a:pPr>
            <a:r>
              <a:rPr lang="en"/>
              <a:t>-text box for x, y, and z of ball (Update)</a:t>
            </a:r>
            <a:endParaRPr/>
          </a:p>
          <a:p>
            <a:pPr indent="0" lvl="0" marL="0" rtl="0" algn="l">
              <a:spcBef>
                <a:spcPts val="0"/>
              </a:spcBef>
              <a:spcAft>
                <a:spcPts val="0"/>
              </a:spcAft>
              <a:buNone/>
            </a:pPr>
            <a:r>
              <a:rPr lang="en"/>
              <a:t>-text field for the state of the ball in or out with text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ceb4b1574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ceb4b1574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an example of </a:t>
            </a:r>
            <a:r>
              <a:rPr lang="en"/>
              <a:t>what we think the tracking of the ball would look like.</a:t>
            </a:r>
            <a:endParaRPr/>
          </a:p>
          <a:p>
            <a:pPr indent="0" lvl="0" marL="0" rtl="0" algn="l">
              <a:spcBef>
                <a:spcPts val="0"/>
              </a:spcBef>
              <a:spcAft>
                <a:spcPts val="0"/>
              </a:spcAft>
              <a:buNone/>
            </a:pPr>
            <a:r>
              <a:rPr lang="en"/>
              <a:t>-Where the ball has been, etc. </a:t>
            </a:r>
            <a:endParaRPr/>
          </a:p>
          <a:p>
            <a:pPr indent="0" lvl="0" marL="0" rtl="0" algn="l">
              <a:spcBef>
                <a:spcPts val="0"/>
              </a:spcBef>
              <a:spcAft>
                <a:spcPts val="0"/>
              </a:spcAft>
              <a:buNone/>
            </a:pPr>
            <a:r>
              <a:rPr lang="en"/>
              <a:t>-Example from lab 1 this will be expanded to include the z axis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caa1f43b3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caa1f43b3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“Risk” </a:t>
            </a:r>
            <a:endParaRPr/>
          </a:p>
          <a:p>
            <a:pPr indent="0" lvl="0" marL="0" rtl="0" algn="l">
              <a:spcBef>
                <a:spcPts val="0"/>
              </a:spcBef>
              <a:spcAft>
                <a:spcPts val="0"/>
              </a:spcAft>
              <a:buNone/>
            </a:pPr>
            <a:r>
              <a:rPr lang="en"/>
              <a:t>Speed</a:t>
            </a:r>
            <a:endParaRPr/>
          </a:p>
          <a:p>
            <a:pPr indent="0" lvl="0" marL="0" rtl="0" algn="l">
              <a:spcBef>
                <a:spcPts val="0"/>
              </a:spcBef>
              <a:spcAft>
                <a:spcPts val="0"/>
              </a:spcAft>
              <a:buNone/>
            </a:pPr>
            <a:r>
              <a:rPr lang="en"/>
              <a:t>Grafical computer problems</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ce7d4a5a75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ce7d4a5a75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we move onto the business items.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caa1f43b3f_2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caa1f43b3f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Design validation - we want to make sure our system performs acceptably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One of the more </a:t>
            </a:r>
            <a:r>
              <a:rPr lang="en" sz="1400"/>
              <a:t>important</a:t>
            </a:r>
            <a:r>
              <a:rPr lang="en" sz="1400"/>
              <a:t> parts of the system to </a:t>
            </a:r>
            <a:r>
              <a:rPr lang="en" sz="1400"/>
              <a:t>focus</a:t>
            </a:r>
            <a:r>
              <a:rPr lang="en" sz="1400"/>
              <a:t> on is our accuracy. And with that, a few questions that we need to continue to ask ourselves are: Does the system see the ball? Where is the ball now? Is the ball even on the court? </a:t>
            </a:r>
            <a:endParaRPr sz="1400"/>
          </a:p>
          <a:p>
            <a:pPr indent="0" lvl="0" marL="0" rtl="0" algn="l">
              <a:spcBef>
                <a:spcPts val="0"/>
              </a:spcBef>
              <a:spcAft>
                <a:spcPts val="0"/>
              </a:spcAft>
              <a:buNone/>
            </a:pPr>
            <a:r>
              <a:rPr lang="en" sz="1400"/>
              <a:t>By making sure we can answer those questions, we can ensure that our system precisely finds the location of the balls when they are on the court. And equally as </a:t>
            </a:r>
            <a:r>
              <a:rPr lang="en" sz="1400"/>
              <a:t>important</a:t>
            </a:r>
            <a:r>
              <a:rPr lang="en" sz="1400"/>
              <a:t>, the system needs to recognize when there are no balls on the court, since at times the balls will be bouncing out of bounds. This needs to be reflected by turning the LEDs on and off, as specified earlier in the presentation.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Our GUI will also be updated periodically to show the position of the ball, again circling back to the concept of accuracy and validation</a:t>
            </a:r>
            <a:endParaRPr sz="14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caa1f43b3f_2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caa1f43b3f_2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project management, one area of focus is with our worked hours submissions, and with that, keeping an accurate count of the total hours worked as a team, and a count for each individual member of the team. We need to keep this accurate throughout the whole project, so we can see report our actual hours worked, and how much profit we make at the end.</a:t>
            </a:r>
            <a:endParaRPr/>
          </a:p>
          <a:p>
            <a:pPr indent="0" lvl="0" marL="0" rtl="0" algn="l">
              <a:spcBef>
                <a:spcPts val="0"/>
              </a:spcBef>
              <a:spcAft>
                <a:spcPts val="0"/>
              </a:spcAft>
              <a:buNone/>
            </a:pPr>
            <a:r>
              <a:rPr lang="en"/>
              <a:t>I’ve been using an Excel spreadsheet to record this data, and I recently added it to our shared Team Drive so any one of us can see it, and add hours when we work them. And of course, I submit our weekly hours each Sunday evening to Dr. Kaputa for an official recording.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also try to meet once a week, though it honestly has been a bit difficult with our varying schedules and juggling jobs and classes. The past few weeks, our meetings were a means to brainstorm ideas of how we would like to approach the different </a:t>
            </a:r>
            <a:r>
              <a:rPr lang="en"/>
              <a:t>aspects</a:t>
            </a:r>
            <a:r>
              <a:rPr lang="en"/>
              <a:t> of the project, and decide if they’d be feasible. And now looking ahead, the weekly meetings will be more of a check-in to ensure we are doing what needs to be</a:t>
            </a:r>
            <a:r>
              <a:rPr lang="en"/>
              <a:t> </a:t>
            </a:r>
            <a:r>
              <a:rPr lang="en"/>
              <a:t>done. We will have multiple times per week now where all 5 of us can meet during our lectures and lab times. During this final four week stretch from PDR to CDR, we will be able to code and work on the project, rather than only plan the project. We can determine weekly goals of what we’d like done, </a:t>
            </a:r>
            <a:r>
              <a:rPr lang="en"/>
              <a:t>complete</a:t>
            </a:r>
            <a:r>
              <a:rPr lang="en"/>
              <a:t> weekly deliverables as needed, and check to see each other’s progress and give and </a:t>
            </a:r>
            <a:r>
              <a:rPr lang="en"/>
              <a:t>motivation</a:t>
            </a:r>
            <a:r>
              <a:rPr lang="en"/>
              <a:t> help when needed.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ceaccdce8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ceaccdce8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Since the start of the project, we’ve put in 25 hours across the team. The total cost from start to PDR is $2,500.</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From now until our CDR, we have estimated 150 hours.</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brings us to a final total will be 175 hours for the PDR and CDR combined, as shown in the pie chart on </a:t>
            </a:r>
            <a:r>
              <a:rPr lang="en"/>
              <a:t>the</a:t>
            </a:r>
            <a:r>
              <a:rPr lang="en"/>
              <a:t> left, showing the comparison of PDR and CDR estimate.</a:t>
            </a:r>
            <a:endParaRPr/>
          </a:p>
          <a:p>
            <a:pPr indent="0" lvl="0" marL="0" rtl="0" algn="l">
              <a:spcBef>
                <a:spcPts val="0"/>
              </a:spcBef>
              <a:spcAft>
                <a:spcPts val="0"/>
              </a:spcAft>
              <a:buNone/>
            </a:pPr>
            <a:r>
              <a:rPr lang="en"/>
              <a:t>The pie chart on </a:t>
            </a:r>
            <a:r>
              <a:rPr lang="en"/>
              <a:t>the right shows our breakdown for the CDR sections.</a:t>
            </a:r>
            <a:endParaRPr/>
          </a:p>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caa1f43b3f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caa1f43b3f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I said on the previous slide,  we can begin to work on the CDR. Now that the PDR presentation has come, and is almost gone, we can </a:t>
            </a:r>
            <a:r>
              <a:rPr lang="en"/>
              <a:t>transition</a:t>
            </a:r>
            <a:r>
              <a:rPr lang="en"/>
              <a:t> from planning to executing. The CDR presentations begin on May 10, so we have four weeks to finish the project and prepare for the </a:t>
            </a:r>
            <a:r>
              <a:rPr lang="en"/>
              <a:t>presentation</a:t>
            </a:r>
            <a:r>
              <a:rPr lang="en"/>
              <a:t>, and our work begins this week.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 you saw in the pie chart, our estimates put us around 150 hours for the CDR. With 25 hours dedicated toward the business portion, 25 for the GUI, and 50 each for the firmware and software portions. This comes out to $15,000 for the total price for the CDR, seeing as how we are billing for $100 per hour.</a:t>
            </a:r>
            <a:endParaRPr/>
          </a:p>
          <a:p>
            <a:pPr indent="0" lvl="0" marL="0" rtl="0" algn="l">
              <a:spcBef>
                <a:spcPts val="0"/>
              </a:spcBef>
              <a:spcAft>
                <a:spcPts val="0"/>
              </a:spcAft>
              <a:buNone/>
            </a:pPr>
            <a:r>
              <a:rPr lang="en"/>
              <a:t>And a total project cost of PDR and CDR $17,500</a:t>
            </a:r>
            <a:endParaRPr/>
          </a:p>
          <a:p>
            <a:pPr indent="0" lvl="0" marL="0" rtl="0" algn="l">
              <a:spcBef>
                <a:spcPts val="0"/>
              </a:spcBef>
              <a:spcAft>
                <a:spcPts val="0"/>
              </a:spcAft>
              <a:buClr>
                <a:schemeClr val="dk1"/>
              </a:buClr>
              <a:buSzPts val="1100"/>
              <a:buFont typeface="Arial"/>
              <a:buNone/>
            </a:pPr>
            <a:r>
              <a:rPr lang="en">
                <a:solidFill>
                  <a:schemeClr val="dk1"/>
                </a:solidFill>
              </a:rPr>
              <a:t>At the conclusion of the project, we will be comparing our estimate that we made to our actual hours worked. That way we can see exactly how accurate our predictions were, and if we should have bid the project higher or lower.</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caa1f43b3f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caa1f43b3f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Thanks for listening to our presentation, do you </a:t>
            </a:r>
            <a:r>
              <a:rPr lang="en"/>
              <a:t>have</a:t>
            </a:r>
            <a:r>
              <a:rPr lang="en"/>
              <a:t> any questions for the team?</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jpg"/><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1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1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14.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1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rotWithShape="1">
          <a:blip r:embed="rId3">
            <a:alphaModFix/>
          </a:blip>
          <a:srcRect b="8592" l="0" r="11245" t="17964"/>
          <a:stretch/>
        </p:blipFill>
        <p:spPr>
          <a:xfrm>
            <a:off x="0" y="414988"/>
            <a:ext cx="9144000" cy="4728524"/>
          </a:xfrm>
          <a:prstGeom prst="rect">
            <a:avLst/>
          </a:prstGeom>
          <a:noFill/>
          <a:ln>
            <a:noFill/>
          </a:ln>
        </p:spPr>
      </p:pic>
      <p:sp>
        <p:nvSpPr>
          <p:cNvPr id="55" name="Google Shape;55;p13"/>
          <p:cNvSpPr txBox="1"/>
          <p:nvPr>
            <p:ph type="ctrTitle"/>
          </p:nvPr>
        </p:nvSpPr>
        <p:spPr>
          <a:xfrm>
            <a:off x="570150" y="2135000"/>
            <a:ext cx="3033600" cy="1288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i="1" lang="en" sz="2800">
                <a:solidFill>
                  <a:schemeClr val="lt1"/>
                </a:solidFill>
                <a:latin typeface="Raleway"/>
                <a:ea typeface="Raleway"/>
                <a:cs typeface="Raleway"/>
                <a:sym typeface="Raleway"/>
              </a:rPr>
              <a:t>April Tag Table Tennis Tracker</a:t>
            </a:r>
            <a:endParaRPr i="1" sz="2800">
              <a:solidFill>
                <a:schemeClr val="lt1"/>
              </a:solidFill>
              <a:latin typeface="Raleway"/>
              <a:ea typeface="Raleway"/>
              <a:cs typeface="Raleway"/>
              <a:sym typeface="Raleway"/>
            </a:endParaRPr>
          </a:p>
        </p:txBody>
      </p:sp>
      <p:sp>
        <p:nvSpPr>
          <p:cNvPr id="56" name="Google Shape;56;p13"/>
          <p:cNvSpPr txBox="1"/>
          <p:nvPr>
            <p:ph idx="1" type="subTitle"/>
          </p:nvPr>
        </p:nvSpPr>
        <p:spPr>
          <a:xfrm>
            <a:off x="0" y="0"/>
            <a:ext cx="9144000" cy="414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1000">
                <a:latin typeface="Raleway"/>
                <a:ea typeface="Raleway"/>
                <a:cs typeface="Raleway"/>
                <a:sym typeface="Raleway"/>
              </a:rPr>
              <a:t>Embedded Systems Design II		Preliminary Design Review</a:t>
            </a:r>
            <a:endParaRPr sz="1000">
              <a:latin typeface="Raleway"/>
              <a:ea typeface="Raleway"/>
              <a:cs typeface="Raleway"/>
              <a:sym typeface="Raleway"/>
            </a:endParaRPr>
          </a:p>
        </p:txBody>
      </p:sp>
      <p:sp>
        <p:nvSpPr>
          <p:cNvPr id="57" name="Google Shape;57;p13"/>
          <p:cNvSpPr txBox="1"/>
          <p:nvPr>
            <p:ph type="ctrTitle"/>
          </p:nvPr>
        </p:nvSpPr>
        <p:spPr>
          <a:xfrm>
            <a:off x="570150" y="1415600"/>
            <a:ext cx="3033600" cy="7194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sz="2600">
                <a:solidFill>
                  <a:schemeClr val="lt1"/>
                </a:solidFill>
                <a:latin typeface="Raleway"/>
                <a:ea typeface="Raleway"/>
                <a:cs typeface="Raleway"/>
                <a:sym typeface="Raleway"/>
              </a:rPr>
              <a:t>Team Thárros</a:t>
            </a:r>
            <a:endParaRPr i="1" sz="2800">
              <a:solidFill>
                <a:schemeClr val="lt1"/>
              </a:solidFill>
              <a:latin typeface="Raleway"/>
              <a:ea typeface="Raleway"/>
              <a:cs typeface="Raleway"/>
              <a:sym typeface="Ralewa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5"/>
        </a:solidFill>
      </p:bgPr>
    </p:bg>
    <p:spTree>
      <p:nvGrpSpPr>
        <p:cNvPr id="61" name="Shape 61"/>
        <p:cNvGrpSpPr/>
        <p:nvPr/>
      </p:nvGrpSpPr>
      <p:grpSpPr>
        <a:xfrm>
          <a:off x="0" y="0"/>
          <a:ext cx="0" cy="0"/>
          <a:chOff x="0" y="0"/>
          <a:chExt cx="0" cy="0"/>
        </a:xfrm>
      </p:grpSpPr>
      <p:sp>
        <p:nvSpPr>
          <p:cNvPr id="62" name="Google Shape;62;p14"/>
          <p:cNvSpPr txBox="1"/>
          <p:nvPr/>
        </p:nvSpPr>
        <p:spPr>
          <a:xfrm>
            <a:off x="707850" y="832275"/>
            <a:ext cx="7110000" cy="53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rgbClr val="FFFFFF"/>
                </a:solidFill>
                <a:latin typeface="Raleway"/>
                <a:ea typeface="Raleway"/>
                <a:cs typeface="Raleway"/>
                <a:sym typeface="Raleway"/>
              </a:rPr>
              <a:t>Team Members</a:t>
            </a:r>
            <a:endParaRPr b="1" sz="2600">
              <a:solidFill>
                <a:srgbClr val="FFFFFF"/>
              </a:solidFill>
              <a:latin typeface="Raleway"/>
              <a:ea typeface="Raleway"/>
              <a:cs typeface="Raleway"/>
              <a:sym typeface="Raleway"/>
            </a:endParaRPr>
          </a:p>
          <a:p>
            <a:pPr indent="0" lvl="0" marL="0" rtl="0" algn="l">
              <a:spcBef>
                <a:spcPts val="0"/>
              </a:spcBef>
              <a:spcAft>
                <a:spcPts val="0"/>
              </a:spcAft>
              <a:buNone/>
            </a:pPr>
            <a:r>
              <a:t/>
            </a:r>
            <a:endParaRPr b="1" sz="2600">
              <a:solidFill>
                <a:srgbClr val="FFFFFF"/>
              </a:solidFill>
              <a:latin typeface="Raleway"/>
              <a:ea typeface="Raleway"/>
              <a:cs typeface="Raleway"/>
              <a:sym typeface="Raleway"/>
            </a:endParaRPr>
          </a:p>
        </p:txBody>
      </p:sp>
      <p:graphicFrame>
        <p:nvGraphicFramePr>
          <p:cNvPr id="63" name="Google Shape;63;p14"/>
          <p:cNvGraphicFramePr/>
          <p:nvPr/>
        </p:nvGraphicFramePr>
        <p:xfrm>
          <a:off x="707850" y="1664960"/>
          <a:ext cx="3000000" cy="3000000"/>
        </p:xfrm>
        <a:graphic>
          <a:graphicData uri="http://schemas.openxmlformats.org/drawingml/2006/table">
            <a:tbl>
              <a:tblPr>
                <a:noFill/>
                <a:tableStyleId>{8B595FFD-5A2C-4DB9-B461-D8853E509F22}</a:tableStyleId>
              </a:tblPr>
              <a:tblGrid>
                <a:gridCol w="3616900"/>
                <a:gridCol w="3931250"/>
              </a:tblGrid>
              <a:tr h="401725">
                <a:tc>
                  <a:txBody>
                    <a:bodyPr/>
                    <a:lstStyle/>
                    <a:p>
                      <a:pPr indent="0" lvl="0" marL="0" rtl="0" algn="l">
                        <a:spcBef>
                          <a:spcPts val="0"/>
                        </a:spcBef>
                        <a:spcAft>
                          <a:spcPts val="0"/>
                        </a:spcAft>
                        <a:buNone/>
                      </a:pPr>
                      <a:r>
                        <a:rPr b="1" lang="en">
                          <a:solidFill>
                            <a:schemeClr val="dk1"/>
                          </a:solidFill>
                        </a:rPr>
                        <a:t>Name</a:t>
                      </a:r>
                      <a:endParaRPr b="1">
                        <a:solidFill>
                          <a:schemeClr val="dk1"/>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b="1" lang="en">
                          <a:solidFill>
                            <a:schemeClr val="dk1"/>
                          </a:solidFill>
                        </a:rPr>
                        <a:t>Major </a:t>
                      </a:r>
                      <a:r>
                        <a:rPr b="1" lang="en">
                          <a:solidFill>
                            <a:schemeClr val="dk1"/>
                          </a:solidFill>
                        </a:rPr>
                        <a:t>Roles</a:t>
                      </a:r>
                      <a:endParaRPr b="1">
                        <a:solidFill>
                          <a:schemeClr val="dk1"/>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accent4"/>
                    </a:solidFill>
                  </a:tcPr>
                </a:tc>
              </a:tr>
              <a:tr h="401725">
                <a:tc>
                  <a:txBody>
                    <a:bodyPr/>
                    <a:lstStyle/>
                    <a:p>
                      <a:pPr indent="0" lvl="0" marL="0" rtl="0" algn="l">
                        <a:spcBef>
                          <a:spcPts val="0"/>
                        </a:spcBef>
                        <a:spcAft>
                          <a:spcPts val="0"/>
                        </a:spcAft>
                        <a:buClr>
                          <a:schemeClr val="dk1"/>
                        </a:buClr>
                        <a:buSzPts val="1100"/>
                        <a:buFont typeface="Arial"/>
                        <a:buNone/>
                      </a:pPr>
                      <a:r>
                        <a:rPr b="1" lang="en" sz="1300">
                          <a:solidFill>
                            <a:srgbClr val="FFFFFF"/>
                          </a:solidFill>
                          <a:latin typeface="Raleway"/>
                          <a:ea typeface="Raleway"/>
                          <a:cs typeface="Raleway"/>
                          <a:sym typeface="Raleway"/>
                        </a:rPr>
                        <a:t>Athaxes Alexandre </a:t>
                      </a:r>
                      <a:endParaRPr b="1">
                        <a:solidFill>
                          <a:srgbClr val="FFFFF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b="1" lang="en">
                          <a:solidFill>
                            <a:schemeClr val="lt1"/>
                          </a:solidFill>
                        </a:rPr>
                        <a:t>GUI Development</a:t>
                      </a:r>
                      <a:endParaRPr b="1">
                        <a:solidFill>
                          <a:schemeClr val="lt1"/>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401725">
                <a:tc>
                  <a:txBody>
                    <a:bodyPr/>
                    <a:lstStyle/>
                    <a:p>
                      <a:pPr indent="0" lvl="0" marL="0" rtl="0" algn="l">
                        <a:spcBef>
                          <a:spcPts val="0"/>
                        </a:spcBef>
                        <a:spcAft>
                          <a:spcPts val="0"/>
                        </a:spcAft>
                        <a:buClr>
                          <a:schemeClr val="dk1"/>
                        </a:buClr>
                        <a:buSzPts val="1100"/>
                        <a:buFont typeface="Arial"/>
                        <a:buNone/>
                      </a:pPr>
                      <a:r>
                        <a:rPr b="1" lang="en" sz="1300">
                          <a:solidFill>
                            <a:srgbClr val="FFFFFF"/>
                          </a:solidFill>
                          <a:latin typeface="Raleway"/>
                          <a:ea typeface="Raleway"/>
                          <a:cs typeface="Raleway"/>
                          <a:sym typeface="Raleway"/>
                        </a:rPr>
                        <a:t>Brian Zarzuela</a:t>
                      </a:r>
                      <a:endParaRPr b="1">
                        <a:solidFill>
                          <a:srgbClr val="FFFFF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b="1" lang="en">
                          <a:solidFill>
                            <a:schemeClr val="lt1"/>
                          </a:solidFill>
                        </a:rPr>
                        <a:t>Firmware Development</a:t>
                      </a:r>
                      <a:endParaRPr b="1">
                        <a:solidFill>
                          <a:schemeClr val="lt1"/>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401725">
                <a:tc>
                  <a:txBody>
                    <a:bodyPr/>
                    <a:lstStyle/>
                    <a:p>
                      <a:pPr indent="0" lvl="0" marL="0" rtl="0" algn="l">
                        <a:spcBef>
                          <a:spcPts val="0"/>
                        </a:spcBef>
                        <a:spcAft>
                          <a:spcPts val="0"/>
                        </a:spcAft>
                        <a:buClr>
                          <a:schemeClr val="dk1"/>
                        </a:buClr>
                        <a:buSzPts val="1100"/>
                        <a:buFont typeface="Arial"/>
                        <a:buNone/>
                      </a:pPr>
                      <a:r>
                        <a:rPr b="1" lang="en" sz="1300">
                          <a:solidFill>
                            <a:srgbClr val="FFFFFF"/>
                          </a:solidFill>
                          <a:latin typeface="Raleway"/>
                          <a:ea typeface="Raleway"/>
                          <a:cs typeface="Raleway"/>
                          <a:sym typeface="Raleway"/>
                        </a:rPr>
                        <a:t>David Tassoni </a:t>
                      </a:r>
                      <a:endParaRPr b="1">
                        <a:solidFill>
                          <a:srgbClr val="FFFFF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b="1" lang="en">
                          <a:solidFill>
                            <a:schemeClr val="lt1"/>
                          </a:solidFill>
                        </a:rPr>
                        <a:t>Business Lead</a:t>
                      </a:r>
                      <a:endParaRPr b="1">
                        <a:solidFill>
                          <a:schemeClr val="lt1"/>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401725">
                <a:tc>
                  <a:txBody>
                    <a:bodyPr/>
                    <a:lstStyle/>
                    <a:p>
                      <a:pPr indent="0" lvl="0" marL="0" rtl="0" algn="l">
                        <a:spcBef>
                          <a:spcPts val="0"/>
                        </a:spcBef>
                        <a:spcAft>
                          <a:spcPts val="0"/>
                        </a:spcAft>
                        <a:buClr>
                          <a:schemeClr val="dk1"/>
                        </a:buClr>
                        <a:buSzPts val="1100"/>
                        <a:buFont typeface="Arial"/>
                        <a:buNone/>
                      </a:pPr>
                      <a:r>
                        <a:rPr b="1" lang="en" sz="1300">
                          <a:solidFill>
                            <a:srgbClr val="FFFFFF"/>
                          </a:solidFill>
                          <a:latin typeface="Raleway"/>
                          <a:ea typeface="Raleway"/>
                          <a:cs typeface="Raleway"/>
                          <a:sym typeface="Raleway"/>
                        </a:rPr>
                        <a:t>Hasnain Akhtar</a:t>
                      </a:r>
                      <a:endParaRPr b="1">
                        <a:solidFill>
                          <a:srgbClr val="FFFFF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b="1" lang="en">
                          <a:solidFill>
                            <a:schemeClr val="lt1"/>
                          </a:solidFill>
                        </a:rPr>
                        <a:t>Software Development</a:t>
                      </a:r>
                      <a:endParaRPr b="1">
                        <a:solidFill>
                          <a:schemeClr val="lt1"/>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386300">
                <a:tc>
                  <a:txBody>
                    <a:bodyPr/>
                    <a:lstStyle/>
                    <a:p>
                      <a:pPr indent="0" lvl="0" marL="0" rtl="0" algn="l">
                        <a:spcBef>
                          <a:spcPts val="0"/>
                        </a:spcBef>
                        <a:spcAft>
                          <a:spcPts val="0"/>
                        </a:spcAft>
                        <a:buClr>
                          <a:schemeClr val="dk1"/>
                        </a:buClr>
                        <a:buSzPts val="1100"/>
                        <a:buFont typeface="Arial"/>
                        <a:buNone/>
                      </a:pPr>
                      <a:r>
                        <a:rPr b="1" lang="en" sz="1300">
                          <a:solidFill>
                            <a:srgbClr val="FFFFFF"/>
                          </a:solidFill>
                          <a:latin typeface="Raleway"/>
                          <a:ea typeface="Raleway"/>
                          <a:cs typeface="Raleway"/>
                          <a:sym typeface="Raleway"/>
                        </a:rPr>
                        <a:t>Ryan Schureman </a:t>
                      </a:r>
                      <a:endParaRPr b="1">
                        <a:solidFill>
                          <a:srgbClr val="FFFFF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b="1" lang="en">
                          <a:solidFill>
                            <a:schemeClr val="lt1"/>
                          </a:solidFill>
                        </a:rPr>
                        <a:t>Software Development</a:t>
                      </a:r>
                      <a:endParaRPr b="1">
                        <a:solidFill>
                          <a:schemeClr val="lt1"/>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idx="1" type="body"/>
          </p:nvPr>
        </p:nvSpPr>
        <p:spPr>
          <a:xfrm>
            <a:off x="4741975" y="863550"/>
            <a:ext cx="4049400" cy="3635400"/>
          </a:xfrm>
          <a:prstGeom prst="rect">
            <a:avLst/>
          </a:prstGeom>
        </p:spPr>
        <p:txBody>
          <a:bodyPr anchorCtr="0" anchor="ctr" bIns="91425" lIns="91425" spcFirstLastPara="1" rIns="91425" wrap="square" tIns="91425">
            <a:normAutofit/>
          </a:bodyPr>
          <a:lstStyle/>
          <a:p>
            <a:pPr indent="-330200" lvl="0" marL="457200" rtl="0" algn="l">
              <a:lnSpc>
                <a:spcPct val="100000"/>
              </a:lnSpc>
              <a:spcBef>
                <a:spcPts val="0"/>
              </a:spcBef>
              <a:spcAft>
                <a:spcPts val="0"/>
              </a:spcAft>
              <a:buClr>
                <a:schemeClr val="accent4"/>
              </a:buClr>
              <a:buSzPts val="1600"/>
              <a:buFont typeface="Lato"/>
              <a:buChar char="●"/>
            </a:pPr>
            <a:r>
              <a:rPr lang="en" sz="1600">
                <a:solidFill>
                  <a:srgbClr val="000000"/>
                </a:solidFill>
                <a:latin typeface="Lato"/>
                <a:ea typeface="Lato"/>
                <a:cs typeface="Lato"/>
                <a:sym typeface="Lato"/>
              </a:rPr>
              <a:t>To create a fully working FPGA-based tennis ball tracker</a:t>
            </a:r>
            <a:endParaRPr sz="1600">
              <a:solidFill>
                <a:srgbClr val="000000"/>
              </a:solidFill>
              <a:latin typeface="Lato"/>
              <a:ea typeface="Lato"/>
              <a:cs typeface="Lato"/>
              <a:sym typeface="Lato"/>
            </a:endParaRPr>
          </a:p>
          <a:p>
            <a:pPr indent="-330200" lvl="0" marL="457200" rtl="0" algn="l">
              <a:lnSpc>
                <a:spcPct val="100000"/>
              </a:lnSpc>
              <a:spcBef>
                <a:spcPts val="0"/>
              </a:spcBef>
              <a:spcAft>
                <a:spcPts val="0"/>
              </a:spcAft>
              <a:buClr>
                <a:schemeClr val="accent4"/>
              </a:buClr>
              <a:buSzPts val="1600"/>
              <a:buFont typeface="Lato"/>
              <a:buChar char="●"/>
            </a:pPr>
            <a:r>
              <a:rPr lang="en" sz="1600">
                <a:solidFill>
                  <a:srgbClr val="000000"/>
                </a:solidFill>
                <a:latin typeface="Lato"/>
                <a:ea typeface="Lato"/>
                <a:cs typeface="Lato"/>
                <a:sym typeface="Lato"/>
              </a:rPr>
              <a:t>Accurately determine ball position within 3D space</a:t>
            </a:r>
            <a:endParaRPr sz="1600">
              <a:solidFill>
                <a:srgbClr val="000000"/>
              </a:solidFill>
              <a:latin typeface="Lato"/>
              <a:ea typeface="Lato"/>
              <a:cs typeface="Lato"/>
              <a:sym typeface="Lato"/>
            </a:endParaRPr>
          </a:p>
          <a:p>
            <a:pPr indent="-330200" lvl="0" marL="457200" rtl="0" algn="l">
              <a:lnSpc>
                <a:spcPct val="100000"/>
              </a:lnSpc>
              <a:spcBef>
                <a:spcPts val="0"/>
              </a:spcBef>
              <a:spcAft>
                <a:spcPts val="0"/>
              </a:spcAft>
              <a:buClr>
                <a:schemeClr val="accent4"/>
              </a:buClr>
              <a:buSzPts val="1600"/>
              <a:buFont typeface="Lato"/>
              <a:buChar char="●"/>
            </a:pPr>
            <a:r>
              <a:rPr lang="en" sz="1600">
                <a:solidFill>
                  <a:srgbClr val="000000"/>
                </a:solidFill>
                <a:latin typeface="Lato"/>
                <a:ea typeface="Lato"/>
                <a:cs typeface="Lato"/>
                <a:sym typeface="Lato"/>
              </a:rPr>
              <a:t>Determine if the ball is within bounds</a:t>
            </a:r>
            <a:endParaRPr sz="1600">
              <a:solidFill>
                <a:srgbClr val="000000"/>
              </a:solidFill>
              <a:latin typeface="Lato"/>
              <a:ea typeface="Lato"/>
              <a:cs typeface="Lato"/>
              <a:sym typeface="Lato"/>
            </a:endParaRPr>
          </a:p>
          <a:p>
            <a:pPr indent="-330200" lvl="0" marL="457200" rtl="0" algn="l">
              <a:lnSpc>
                <a:spcPct val="100000"/>
              </a:lnSpc>
              <a:spcBef>
                <a:spcPts val="0"/>
              </a:spcBef>
              <a:spcAft>
                <a:spcPts val="0"/>
              </a:spcAft>
              <a:buClr>
                <a:schemeClr val="accent4"/>
              </a:buClr>
              <a:buSzPts val="1600"/>
              <a:buFont typeface="Lato"/>
              <a:buChar char="●"/>
            </a:pPr>
            <a:r>
              <a:rPr lang="en" sz="1600">
                <a:solidFill>
                  <a:srgbClr val="000000"/>
                </a:solidFill>
                <a:latin typeface="Lato"/>
                <a:ea typeface="Lato"/>
                <a:cs typeface="Lato"/>
                <a:sym typeface="Lato"/>
              </a:rPr>
              <a:t>Remain within an attractive price point</a:t>
            </a:r>
            <a:endParaRPr sz="1600">
              <a:solidFill>
                <a:srgbClr val="000000"/>
              </a:solidFill>
              <a:latin typeface="Lato"/>
              <a:ea typeface="Lato"/>
              <a:cs typeface="Lato"/>
              <a:sym typeface="Lato"/>
            </a:endParaRPr>
          </a:p>
        </p:txBody>
      </p:sp>
      <p:pic>
        <p:nvPicPr>
          <p:cNvPr descr="Closeup from the side of a hand pushing a knob on an audio mixer" id="69" name="Google Shape;69;p15"/>
          <p:cNvPicPr preferRelativeResize="0"/>
          <p:nvPr/>
        </p:nvPicPr>
        <p:blipFill rotWithShape="1">
          <a:blip r:embed="rId3">
            <a:alphaModFix amt="98000"/>
          </a:blip>
          <a:srcRect b="15419" l="7506" r="42247" t="0"/>
          <a:stretch/>
        </p:blipFill>
        <p:spPr>
          <a:xfrm>
            <a:off x="0" y="0"/>
            <a:ext cx="4594499" cy="5143501"/>
          </a:xfrm>
          <a:prstGeom prst="rect">
            <a:avLst/>
          </a:prstGeom>
          <a:noFill/>
          <a:ln>
            <a:noFill/>
          </a:ln>
        </p:spPr>
      </p:pic>
      <p:sp>
        <p:nvSpPr>
          <p:cNvPr id="70" name="Google Shape;70;p15"/>
          <p:cNvSpPr txBox="1"/>
          <p:nvPr/>
        </p:nvSpPr>
        <p:spPr>
          <a:xfrm>
            <a:off x="4834050" y="666300"/>
            <a:ext cx="4049400" cy="8082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Lato"/>
                <a:ea typeface="Lato"/>
                <a:cs typeface="Lato"/>
                <a:sym typeface="Lato"/>
              </a:rPr>
              <a:t>Goals</a:t>
            </a:r>
            <a:endParaRPr b="1" sz="2000">
              <a:solidFill>
                <a:schemeClr val="dk1"/>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4" name="Shape 74"/>
        <p:cNvGrpSpPr/>
        <p:nvPr/>
      </p:nvGrpSpPr>
      <p:grpSpPr>
        <a:xfrm>
          <a:off x="0" y="0"/>
          <a:ext cx="0" cy="0"/>
          <a:chOff x="0" y="0"/>
          <a:chExt cx="0" cy="0"/>
        </a:xfrm>
      </p:grpSpPr>
      <p:pic>
        <p:nvPicPr>
          <p:cNvPr id="75" name="Google Shape;75;p16"/>
          <p:cNvPicPr preferRelativeResize="0"/>
          <p:nvPr/>
        </p:nvPicPr>
        <p:blipFill rotWithShape="1">
          <a:blip r:embed="rId4">
            <a:alphaModFix/>
          </a:blip>
          <a:srcRect b="9477" l="0" r="0" t="0"/>
          <a:stretch/>
        </p:blipFill>
        <p:spPr>
          <a:xfrm>
            <a:off x="0" y="0"/>
            <a:ext cx="9144000" cy="5143500"/>
          </a:xfrm>
          <a:prstGeom prst="rect">
            <a:avLst/>
          </a:prstGeom>
          <a:noFill/>
          <a:ln>
            <a:noFill/>
          </a:ln>
        </p:spPr>
      </p:pic>
      <p:sp>
        <p:nvSpPr>
          <p:cNvPr id="76" name="Google Shape;76;p1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solidFill>
                  <a:srgbClr val="FFFFFF"/>
                </a:solidFill>
                <a:latin typeface="Droid Sans"/>
                <a:ea typeface="Droid Sans"/>
                <a:cs typeface="Droid Sans"/>
                <a:sym typeface="Droid Sans"/>
              </a:rPr>
              <a:t>System Overview</a:t>
            </a:r>
            <a:endParaRPr>
              <a:solidFill>
                <a:srgbClr val="FFFFFF"/>
              </a:solidFill>
              <a:latin typeface="Droid Sans"/>
              <a:ea typeface="Droid Sans"/>
              <a:cs typeface="Droid Sans"/>
              <a:sym typeface="Droid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p:nvPr/>
        </p:nvSpPr>
        <p:spPr>
          <a:xfrm>
            <a:off x="0" y="-250"/>
            <a:ext cx="9144000" cy="4149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7"/>
          <p:cNvSpPr txBox="1"/>
          <p:nvPr>
            <p:ph idx="4294967295" type="body"/>
          </p:nvPr>
        </p:nvSpPr>
        <p:spPr>
          <a:xfrm>
            <a:off x="751200" y="1846475"/>
            <a:ext cx="5908200" cy="2502300"/>
          </a:xfrm>
          <a:prstGeom prst="rect">
            <a:avLst/>
          </a:prstGeom>
        </p:spPr>
        <p:txBody>
          <a:bodyPr anchorCtr="0" anchor="t" bIns="91425" lIns="91425" spcFirstLastPara="1" rIns="91425" wrap="square" tIns="91425">
            <a:normAutofit/>
          </a:bodyPr>
          <a:lstStyle/>
          <a:p>
            <a:pPr indent="-298450" lvl="0" marL="457200" rtl="0" algn="l">
              <a:lnSpc>
                <a:spcPct val="150000"/>
              </a:lnSpc>
              <a:spcBef>
                <a:spcPts val="0"/>
              </a:spcBef>
              <a:spcAft>
                <a:spcPts val="0"/>
              </a:spcAft>
              <a:buClr>
                <a:schemeClr val="accent4"/>
              </a:buClr>
              <a:buSzPts val="1100"/>
              <a:buFont typeface="Lato"/>
              <a:buChar char="●"/>
            </a:pPr>
            <a:r>
              <a:rPr lang="en" sz="1100">
                <a:solidFill>
                  <a:srgbClr val="000000"/>
                </a:solidFill>
                <a:latin typeface="Lato"/>
                <a:ea typeface="Lato"/>
                <a:cs typeface="Lato"/>
                <a:sym typeface="Lato"/>
              </a:rPr>
              <a:t>Stereo camera system with minimal tracking errors.</a:t>
            </a:r>
            <a:endParaRPr sz="1100">
              <a:solidFill>
                <a:srgbClr val="000000"/>
              </a:solidFill>
              <a:latin typeface="Lato"/>
              <a:ea typeface="Lato"/>
              <a:cs typeface="Lato"/>
              <a:sym typeface="Lato"/>
            </a:endParaRPr>
          </a:p>
          <a:p>
            <a:pPr indent="-298450" lvl="1" marL="914400" rtl="0" algn="l">
              <a:lnSpc>
                <a:spcPct val="150000"/>
              </a:lnSpc>
              <a:spcBef>
                <a:spcPts val="0"/>
              </a:spcBef>
              <a:spcAft>
                <a:spcPts val="0"/>
              </a:spcAft>
              <a:buClr>
                <a:srgbClr val="000000"/>
              </a:buClr>
              <a:buSzPts val="1100"/>
              <a:buFont typeface="Lato"/>
              <a:buChar char="○"/>
            </a:pPr>
            <a:r>
              <a:rPr lang="en" sz="1100">
                <a:solidFill>
                  <a:schemeClr val="dk1"/>
                </a:solidFill>
                <a:latin typeface="Lato"/>
                <a:ea typeface="Lato"/>
                <a:cs typeface="Lato"/>
                <a:sym typeface="Lato"/>
              </a:rPr>
              <a:t>T</a:t>
            </a:r>
            <a:r>
              <a:rPr lang="en" sz="1100">
                <a:solidFill>
                  <a:schemeClr val="dk1"/>
                </a:solidFill>
                <a:latin typeface="Lato"/>
                <a:ea typeface="Lato"/>
                <a:cs typeface="Lato"/>
                <a:sym typeface="Lato"/>
              </a:rPr>
              <a:t>est visual feed, positioning, tracking accuracy, z accuracy</a:t>
            </a:r>
            <a:endParaRPr sz="1100">
              <a:solidFill>
                <a:srgbClr val="000000"/>
              </a:solidFill>
              <a:latin typeface="Lato"/>
              <a:ea typeface="Lato"/>
              <a:cs typeface="Lato"/>
              <a:sym typeface="Lato"/>
            </a:endParaRPr>
          </a:p>
          <a:p>
            <a:pPr indent="-298450" lvl="0" marL="457200" rtl="0" algn="l">
              <a:lnSpc>
                <a:spcPct val="150000"/>
              </a:lnSpc>
              <a:spcBef>
                <a:spcPts val="0"/>
              </a:spcBef>
              <a:spcAft>
                <a:spcPts val="0"/>
              </a:spcAft>
              <a:buClr>
                <a:schemeClr val="accent4"/>
              </a:buClr>
              <a:buSzPts val="1100"/>
              <a:buFont typeface="Lato"/>
              <a:buChar char="●"/>
            </a:pPr>
            <a:r>
              <a:rPr lang="en" sz="1100">
                <a:solidFill>
                  <a:srgbClr val="000000"/>
                </a:solidFill>
                <a:latin typeface="Lato"/>
                <a:ea typeface="Lato"/>
                <a:cs typeface="Lato"/>
                <a:sym typeface="Lato"/>
              </a:rPr>
              <a:t>Determine the ball’s velocity and capture the coefficient of restitution</a:t>
            </a:r>
            <a:endParaRPr sz="1100">
              <a:solidFill>
                <a:srgbClr val="000000"/>
              </a:solidFill>
              <a:latin typeface="Lato"/>
              <a:ea typeface="Lato"/>
              <a:cs typeface="Lato"/>
              <a:sym typeface="Lato"/>
            </a:endParaRPr>
          </a:p>
          <a:p>
            <a:pPr indent="-298450" lvl="0" marL="457200" rtl="0" algn="l">
              <a:lnSpc>
                <a:spcPct val="150000"/>
              </a:lnSpc>
              <a:spcBef>
                <a:spcPts val="0"/>
              </a:spcBef>
              <a:spcAft>
                <a:spcPts val="0"/>
              </a:spcAft>
              <a:buClr>
                <a:schemeClr val="accent4"/>
              </a:buClr>
              <a:buSzPts val="1100"/>
              <a:buFont typeface="Lato"/>
              <a:buChar char="●"/>
            </a:pPr>
            <a:r>
              <a:rPr lang="en" sz="1100">
                <a:solidFill>
                  <a:srgbClr val="000000"/>
                </a:solidFill>
                <a:latin typeface="Lato"/>
                <a:ea typeface="Lato"/>
                <a:cs typeface="Lato"/>
                <a:sym typeface="Lato"/>
              </a:rPr>
              <a:t>Report calculations and error rates with respect to actual values</a:t>
            </a:r>
            <a:endParaRPr sz="1100">
              <a:solidFill>
                <a:srgbClr val="000000"/>
              </a:solidFill>
              <a:latin typeface="Lato"/>
              <a:ea typeface="Lato"/>
              <a:cs typeface="Lato"/>
              <a:sym typeface="Lato"/>
            </a:endParaRPr>
          </a:p>
          <a:p>
            <a:pPr indent="-298450" lvl="0" marL="457200" rtl="0" algn="l">
              <a:lnSpc>
                <a:spcPct val="150000"/>
              </a:lnSpc>
              <a:spcBef>
                <a:spcPts val="0"/>
              </a:spcBef>
              <a:spcAft>
                <a:spcPts val="0"/>
              </a:spcAft>
              <a:buClr>
                <a:schemeClr val="accent4"/>
              </a:buClr>
              <a:buSzPts val="1100"/>
              <a:buFont typeface="Lato"/>
              <a:buChar char="●"/>
            </a:pPr>
            <a:r>
              <a:rPr lang="en" sz="1100">
                <a:solidFill>
                  <a:srgbClr val="000000"/>
                </a:solidFill>
                <a:latin typeface="Lato"/>
                <a:ea typeface="Lato"/>
                <a:cs typeface="Lato"/>
                <a:sym typeface="Lato"/>
              </a:rPr>
              <a:t>Tracking LED</a:t>
            </a:r>
            <a:endParaRPr sz="1100">
              <a:solidFill>
                <a:srgbClr val="000000"/>
              </a:solidFill>
              <a:latin typeface="Lato"/>
              <a:ea typeface="Lato"/>
              <a:cs typeface="Lato"/>
              <a:sym typeface="Lato"/>
            </a:endParaRPr>
          </a:p>
          <a:p>
            <a:pPr indent="-298450" lvl="0" marL="457200" rtl="0" algn="l">
              <a:lnSpc>
                <a:spcPct val="150000"/>
              </a:lnSpc>
              <a:spcBef>
                <a:spcPts val="0"/>
              </a:spcBef>
              <a:spcAft>
                <a:spcPts val="0"/>
              </a:spcAft>
              <a:buClr>
                <a:schemeClr val="accent4"/>
              </a:buClr>
              <a:buSzPts val="1100"/>
              <a:buFont typeface="Lato"/>
              <a:buChar char="●"/>
            </a:pPr>
            <a:r>
              <a:rPr lang="en" sz="1100">
                <a:solidFill>
                  <a:srgbClr val="000000"/>
                </a:solidFill>
                <a:latin typeface="Lato"/>
                <a:ea typeface="Lato"/>
                <a:cs typeface="Lato"/>
                <a:sym typeface="Lato"/>
              </a:rPr>
              <a:t>April tag with tracking, out of bounds, and z accuracy</a:t>
            </a:r>
            <a:endParaRPr sz="1100">
              <a:solidFill>
                <a:srgbClr val="000000"/>
              </a:solidFill>
              <a:latin typeface="Lato"/>
              <a:ea typeface="Lato"/>
              <a:cs typeface="Lato"/>
              <a:sym typeface="Lato"/>
            </a:endParaRPr>
          </a:p>
          <a:p>
            <a:pPr indent="-298450" lvl="0" marL="457200" rtl="0" algn="l">
              <a:lnSpc>
                <a:spcPct val="150000"/>
              </a:lnSpc>
              <a:spcBef>
                <a:spcPts val="0"/>
              </a:spcBef>
              <a:spcAft>
                <a:spcPts val="0"/>
              </a:spcAft>
              <a:buClr>
                <a:schemeClr val="accent4"/>
              </a:buClr>
              <a:buSzPts val="1100"/>
              <a:buFont typeface="Lato"/>
              <a:buChar char="●"/>
            </a:pPr>
            <a:r>
              <a:rPr lang="en" sz="1100">
                <a:solidFill>
                  <a:srgbClr val="000000"/>
                </a:solidFill>
                <a:latin typeface="Lato"/>
                <a:ea typeface="Lato"/>
                <a:cs typeface="Lato"/>
                <a:sym typeface="Lato"/>
              </a:rPr>
              <a:t>3D Visualization - modify image to represent z depth</a:t>
            </a:r>
            <a:endParaRPr sz="1100">
              <a:solidFill>
                <a:srgbClr val="000000"/>
              </a:solidFill>
              <a:latin typeface="Lato"/>
              <a:ea typeface="Lato"/>
              <a:cs typeface="Lato"/>
              <a:sym typeface="Lato"/>
            </a:endParaRPr>
          </a:p>
        </p:txBody>
      </p:sp>
      <p:sp>
        <p:nvSpPr>
          <p:cNvPr id="83" name="Google Shape;83;p17"/>
          <p:cNvSpPr txBox="1"/>
          <p:nvPr>
            <p:ph idx="4294967295" type="body"/>
          </p:nvPr>
        </p:nvSpPr>
        <p:spPr>
          <a:xfrm>
            <a:off x="868625" y="1209275"/>
            <a:ext cx="2073900" cy="637200"/>
          </a:xfrm>
          <a:prstGeom prst="rect">
            <a:avLst/>
          </a:prstGeom>
        </p:spPr>
        <p:txBody>
          <a:bodyPr anchorCtr="0" anchor="b" bIns="91425" lIns="91425" spcFirstLastPara="1" rIns="91425" wrap="square" tIns="91425">
            <a:normAutofit/>
          </a:bodyPr>
          <a:lstStyle/>
          <a:p>
            <a:pPr indent="0" lvl="0" marL="0" rtl="0" algn="l">
              <a:spcBef>
                <a:spcPts val="0"/>
              </a:spcBef>
              <a:spcAft>
                <a:spcPts val="1200"/>
              </a:spcAft>
              <a:buNone/>
            </a:pPr>
            <a:r>
              <a:rPr b="1" lang="en" sz="1600">
                <a:solidFill>
                  <a:srgbClr val="000000"/>
                </a:solidFill>
                <a:latin typeface="Lato"/>
                <a:ea typeface="Lato"/>
                <a:cs typeface="Lato"/>
                <a:sym typeface="Lato"/>
              </a:rPr>
              <a:t>Requirements:</a:t>
            </a:r>
            <a:endParaRPr sz="1600">
              <a:solidFill>
                <a:srgbClr val="000000"/>
              </a:solidFill>
              <a:latin typeface="Lato"/>
              <a:ea typeface="Lato"/>
              <a:cs typeface="Lato"/>
              <a:sym typeface="Lato"/>
            </a:endParaRPr>
          </a:p>
        </p:txBody>
      </p:sp>
      <p:pic>
        <p:nvPicPr>
          <p:cNvPr id="84" name="Google Shape;84;p17"/>
          <p:cNvPicPr preferRelativeResize="0"/>
          <p:nvPr/>
        </p:nvPicPr>
        <p:blipFill>
          <a:blip r:embed="rId3">
            <a:alphaModFix/>
          </a:blip>
          <a:stretch>
            <a:fillRect/>
          </a:stretch>
        </p:blipFill>
        <p:spPr>
          <a:xfrm>
            <a:off x="6659400" y="1846475"/>
            <a:ext cx="1913275" cy="12560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8" name="Shape 88"/>
        <p:cNvGrpSpPr/>
        <p:nvPr/>
      </p:nvGrpSpPr>
      <p:grpSpPr>
        <a:xfrm>
          <a:off x="0" y="0"/>
          <a:ext cx="0" cy="0"/>
          <a:chOff x="0" y="0"/>
          <a:chExt cx="0" cy="0"/>
        </a:xfrm>
      </p:grpSpPr>
      <p:sp>
        <p:nvSpPr>
          <p:cNvPr id="89" name="Google Shape;89;p18"/>
          <p:cNvSpPr txBox="1"/>
          <p:nvPr>
            <p:ph type="title"/>
          </p:nvPr>
        </p:nvSpPr>
        <p:spPr>
          <a:xfrm>
            <a:off x="311700" y="2198175"/>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solidFill>
                  <a:srgbClr val="FFFFFF"/>
                </a:solidFill>
                <a:latin typeface="Droid Sans"/>
                <a:ea typeface="Droid Sans"/>
                <a:cs typeface="Droid Sans"/>
                <a:sym typeface="Droid Sans"/>
              </a:rPr>
              <a:t>Hardware</a:t>
            </a:r>
            <a:endParaRPr>
              <a:solidFill>
                <a:srgbClr val="FFFFFF"/>
              </a:solidFill>
              <a:latin typeface="Droid Sans"/>
              <a:ea typeface="Droid Sans"/>
              <a:cs typeface="Droid Sans"/>
              <a:sym typeface="Droid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id="94" name="Google Shape;94;p19"/>
          <p:cNvPicPr preferRelativeResize="0"/>
          <p:nvPr/>
        </p:nvPicPr>
        <p:blipFill>
          <a:blip r:embed="rId3">
            <a:alphaModFix/>
          </a:blip>
          <a:stretch>
            <a:fillRect/>
          </a:stretch>
        </p:blipFill>
        <p:spPr>
          <a:xfrm>
            <a:off x="4814097" y="729825"/>
            <a:ext cx="2963496" cy="1863301"/>
          </a:xfrm>
          <a:prstGeom prst="rect">
            <a:avLst/>
          </a:prstGeom>
          <a:noFill/>
          <a:ln>
            <a:noFill/>
          </a:ln>
        </p:spPr>
      </p:pic>
      <p:pic>
        <p:nvPicPr>
          <p:cNvPr id="95" name="Google Shape;95;p19"/>
          <p:cNvPicPr preferRelativeResize="0"/>
          <p:nvPr/>
        </p:nvPicPr>
        <p:blipFill>
          <a:blip r:embed="rId4">
            <a:alphaModFix/>
          </a:blip>
          <a:stretch>
            <a:fillRect/>
          </a:stretch>
        </p:blipFill>
        <p:spPr>
          <a:xfrm>
            <a:off x="4814100" y="2865550"/>
            <a:ext cx="2901784" cy="1676675"/>
          </a:xfrm>
          <a:prstGeom prst="rect">
            <a:avLst/>
          </a:prstGeom>
          <a:noFill/>
          <a:ln>
            <a:noFill/>
          </a:ln>
        </p:spPr>
      </p:pic>
      <p:sp>
        <p:nvSpPr>
          <p:cNvPr id="96" name="Google Shape;96;p19"/>
          <p:cNvSpPr/>
          <p:nvPr/>
        </p:nvSpPr>
        <p:spPr>
          <a:xfrm>
            <a:off x="0" y="-250"/>
            <a:ext cx="9144000" cy="4149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9"/>
          <p:cNvSpPr txBox="1"/>
          <p:nvPr>
            <p:ph idx="1" type="body"/>
          </p:nvPr>
        </p:nvSpPr>
        <p:spPr>
          <a:xfrm>
            <a:off x="582550" y="916950"/>
            <a:ext cx="3640200" cy="3625200"/>
          </a:xfrm>
          <a:prstGeom prst="rect">
            <a:avLst/>
          </a:prstGeom>
        </p:spPr>
        <p:txBody>
          <a:bodyPr anchorCtr="0" anchor="ctr" bIns="91425" lIns="91425" spcFirstLastPara="1" rIns="91425" wrap="square" tIns="91425">
            <a:normAutofit/>
          </a:bodyPr>
          <a:lstStyle/>
          <a:p>
            <a:pPr indent="-336550" lvl="0" marL="457200" rtl="0" algn="l">
              <a:lnSpc>
                <a:spcPct val="100000"/>
              </a:lnSpc>
              <a:spcBef>
                <a:spcPts val="0"/>
              </a:spcBef>
              <a:spcAft>
                <a:spcPts val="0"/>
              </a:spcAft>
              <a:buClr>
                <a:schemeClr val="accent4"/>
              </a:buClr>
              <a:buSzPts val="1700"/>
              <a:buFont typeface="Lato"/>
              <a:buChar char="●"/>
            </a:pPr>
            <a:r>
              <a:rPr lang="en" sz="1700">
                <a:solidFill>
                  <a:srgbClr val="000000"/>
                </a:solidFill>
                <a:latin typeface="Lato"/>
                <a:ea typeface="Lato"/>
                <a:cs typeface="Lato"/>
                <a:sym typeface="Lato"/>
              </a:rPr>
              <a:t>Snickerdoodle Black SoM</a:t>
            </a:r>
            <a:endParaRPr sz="1700">
              <a:solidFill>
                <a:srgbClr val="000000"/>
              </a:solidFill>
              <a:latin typeface="Lato"/>
              <a:ea typeface="Lato"/>
              <a:cs typeface="Lato"/>
              <a:sym typeface="Lato"/>
            </a:endParaRPr>
          </a:p>
          <a:p>
            <a:pPr indent="-336550" lvl="1" marL="914400" rtl="0" algn="l">
              <a:lnSpc>
                <a:spcPct val="100000"/>
              </a:lnSpc>
              <a:spcBef>
                <a:spcPts val="0"/>
              </a:spcBef>
              <a:spcAft>
                <a:spcPts val="0"/>
              </a:spcAft>
              <a:buClr>
                <a:srgbClr val="000000"/>
              </a:buClr>
              <a:buSzPts val="1700"/>
              <a:buFont typeface="Lato"/>
              <a:buChar char="○"/>
            </a:pPr>
            <a:r>
              <a:rPr lang="en" sz="1700">
                <a:solidFill>
                  <a:srgbClr val="000000"/>
                </a:solidFill>
                <a:latin typeface="Lato"/>
                <a:ea typeface="Lato"/>
                <a:cs typeface="Lato"/>
                <a:sym typeface="Lato"/>
              </a:rPr>
              <a:t>Xilinx Zynq-7020 SoC</a:t>
            </a:r>
            <a:endParaRPr sz="1700">
              <a:solidFill>
                <a:srgbClr val="000000"/>
              </a:solidFill>
              <a:latin typeface="Lato"/>
              <a:ea typeface="Lato"/>
              <a:cs typeface="Lato"/>
              <a:sym typeface="Lato"/>
            </a:endParaRPr>
          </a:p>
          <a:p>
            <a:pPr indent="-336550" lvl="1" marL="914400" rtl="0" algn="l">
              <a:lnSpc>
                <a:spcPct val="100000"/>
              </a:lnSpc>
              <a:spcBef>
                <a:spcPts val="0"/>
              </a:spcBef>
              <a:spcAft>
                <a:spcPts val="0"/>
              </a:spcAft>
              <a:buClr>
                <a:srgbClr val="000000"/>
              </a:buClr>
              <a:buSzPts val="1700"/>
              <a:buFont typeface="Lato"/>
              <a:buChar char="○"/>
            </a:pPr>
            <a:r>
              <a:rPr lang="en" sz="1700">
                <a:solidFill>
                  <a:srgbClr val="000000"/>
                </a:solidFill>
                <a:latin typeface="Lato"/>
                <a:ea typeface="Lato"/>
                <a:cs typeface="Lato"/>
                <a:sym typeface="Lato"/>
              </a:rPr>
              <a:t>Dual-Band Wi-Fi</a:t>
            </a:r>
            <a:endParaRPr sz="1700">
              <a:solidFill>
                <a:srgbClr val="000000"/>
              </a:solidFill>
              <a:latin typeface="Lato"/>
              <a:ea typeface="Lato"/>
              <a:cs typeface="Lato"/>
              <a:sym typeface="Lato"/>
            </a:endParaRPr>
          </a:p>
          <a:p>
            <a:pPr indent="-336550" lvl="0" marL="457200" rtl="0" algn="l">
              <a:lnSpc>
                <a:spcPct val="100000"/>
              </a:lnSpc>
              <a:spcBef>
                <a:spcPts val="0"/>
              </a:spcBef>
              <a:spcAft>
                <a:spcPts val="0"/>
              </a:spcAft>
              <a:buClr>
                <a:schemeClr val="accent4"/>
              </a:buClr>
              <a:buSzPts val="1700"/>
              <a:buFont typeface="Lato"/>
              <a:buChar char="●"/>
            </a:pPr>
            <a:r>
              <a:rPr lang="en" sz="1700">
                <a:solidFill>
                  <a:srgbClr val="000000"/>
                </a:solidFill>
                <a:latin typeface="Lato"/>
                <a:ea typeface="Lato"/>
                <a:cs typeface="Lato"/>
                <a:sym typeface="Lato"/>
              </a:rPr>
              <a:t>Status LEDs </a:t>
            </a:r>
            <a:endParaRPr sz="1700">
              <a:solidFill>
                <a:srgbClr val="000000"/>
              </a:solidFill>
              <a:latin typeface="Lato"/>
              <a:ea typeface="Lato"/>
              <a:cs typeface="Lato"/>
              <a:sym typeface="Lato"/>
            </a:endParaRPr>
          </a:p>
          <a:p>
            <a:pPr indent="-336550" lvl="0" marL="457200" rtl="0" algn="l">
              <a:lnSpc>
                <a:spcPct val="100000"/>
              </a:lnSpc>
              <a:spcBef>
                <a:spcPts val="0"/>
              </a:spcBef>
              <a:spcAft>
                <a:spcPts val="0"/>
              </a:spcAft>
              <a:buClr>
                <a:schemeClr val="accent4"/>
              </a:buClr>
              <a:buSzPts val="1700"/>
              <a:buFont typeface="Lato"/>
              <a:buChar char="●"/>
            </a:pPr>
            <a:r>
              <a:rPr lang="en" sz="1700">
                <a:solidFill>
                  <a:srgbClr val="000000"/>
                </a:solidFill>
                <a:latin typeface="Lato"/>
                <a:ea typeface="Lato"/>
                <a:cs typeface="Lato"/>
                <a:sym typeface="Lato"/>
              </a:rPr>
              <a:t>Stereo Cameras</a:t>
            </a:r>
            <a:endParaRPr sz="1700">
              <a:solidFill>
                <a:srgbClr val="000000"/>
              </a:solidFill>
              <a:latin typeface="Lato"/>
              <a:ea typeface="Lato"/>
              <a:cs typeface="Lato"/>
              <a:sym typeface="Lato"/>
            </a:endParaRPr>
          </a:p>
        </p:txBody>
      </p:sp>
      <p:sp>
        <p:nvSpPr>
          <p:cNvPr id="98" name="Google Shape;98;p19"/>
          <p:cNvSpPr txBox="1"/>
          <p:nvPr/>
        </p:nvSpPr>
        <p:spPr>
          <a:xfrm>
            <a:off x="646000" y="916950"/>
            <a:ext cx="3275100" cy="8082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Lato"/>
                <a:ea typeface="Lato"/>
                <a:cs typeface="Lato"/>
                <a:sym typeface="Lato"/>
              </a:rPr>
              <a:t>Hardware Overview</a:t>
            </a:r>
            <a:endParaRPr b="1" sz="2000">
              <a:solidFill>
                <a:schemeClr val="dk1"/>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p:nvPr/>
        </p:nvSpPr>
        <p:spPr>
          <a:xfrm>
            <a:off x="0" y="-250"/>
            <a:ext cx="9144000" cy="4149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0"/>
          <p:cNvSpPr txBox="1"/>
          <p:nvPr>
            <p:ph idx="1" type="body"/>
          </p:nvPr>
        </p:nvSpPr>
        <p:spPr>
          <a:xfrm>
            <a:off x="582550" y="916950"/>
            <a:ext cx="5534400" cy="3818700"/>
          </a:xfrm>
          <a:prstGeom prst="rect">
            <a:avLst/>
          </a:prstGeom>
        </p:spPr>
        <p:txBody>
          <a:bodyPr anchorCtr="0" anchor="ctr" bIns="91425" lIns="91425" spcFirstLastPara="1" rIns="91425" wrap="square" tIns="91425">
            <a:normAutofit/>
          </a:bodyPr>
          <a:lstStyle/>
          <a:p>
            <a:pPr indent="-336550" lvl="0" marL="457200" rtl="0" algn="l">
              <a:lnSpc>
                <a:spcPct val="150000"/>
              </a:lnSpc>
              <a:spcBef>
                <a:spcPts val="0"/>
              </a:spcBef>
              <a:spcAft>
                <a:spcPts val="0"/>
              </a:spcAft>
              <a:buClr>
                <a:schemeClr val="accent4"/>
              </a:buClr>
              <a:buSzPts val="1700"/>
              <a:buFont typeface="Lato"/>
              <a:buChar char="●"/>
            </a:pPr>
            <a:r>
              <a:rPr lang="en" sz="1700">
                <a:solidFill>
                  <a:srgbClr val="000000"/>
                </a:solidFill>
                <a:latin typeface="Lato"/>
                <a:ea typeface="Lato"/>
                <a:cs typeface="Lato"/>
                <a:sym typeface="Lato"/>
              </a:rPr>
              <a:t>Snickerdoodle unplug during use</a:t>
            </a:r>
            <a:endParaRPr sz="1700">
              <a:solidFill>
                <a:srgbClr val="000000"/>
              </a:solidFill>
              <a:latin typeface="Lato"/>
              <a:ea typeface="Lato"/>
              <a:cs typeface="Lato"/>
              <a:sym typeface="Lato"/>
            </a:endParaRPr>
          </a:p>
          <a:p>
            <a:pPr indent="-336550" lvl="0" marL="457200" rtl="0" algn="l">
              <a:lnSpc>
                <a:spcPct val="150000"/>
              </a:lnSpc>
              <a:spcBef>
                <a:spcPts val="0"/>
              </a:spcBef>
              <a:spcAft>
                <a:spcPts val="0"/>
              </a:spcAft>
              <a:buClr>
                <a:schemeClr val="accent4"/>
              </a:buClr>
              <a:buSzPts val="1700"/>
              <a:buFont typeface="Lato"/>
              <a:buChar char="●"/>
            </a:pPr>
            <a:r>
              <a:rPr lang="en" sz="1700">
                <a:solidFill>
                  <a:srgbClr val="000000"/>
                </a:solidFill>
                <a:latin typeface="Lato"/>
                <a:ea typeface="Lato"/>
                <a:cs typeface="Lato"/>
                <a:sym typeface="Lato"/>
              </a:rPr>
              <a:t>Wi-Fi connection may not be suitable for all room conditions</a:t>
            </a:r>
            <a:endParaRPr sz="1700">
              <a:solidFill>
                <a:srgbClr val="000000"/>
              </a:solidFill>
              <a:latin typeface="Lato"/>
              <a:ea typeface="Lato"/>
              <a:cs typeface="Lato"/>
              <a:sym typeface="Lato"/>
            </a:endParaRPr>
          </a:p>
          <a:p>
            <a:pPr indent="-336550" lvl="0" marL="457200" rtl="0" algn="l">
              <a:lnSpc>
                <a:spcPct val="150000"/>
              </a:lnSpc>
              <a:spcBef>
                <a:spcPts val="0"/>
              </a:spcBef>
              <a:spcAft>
                <a:spcPts val="0"/>
              </a:spcAft>
              <a:buClr>
                <a:schemeClr val="accent4"/>
              </a:buClr>
              <a:buSzPts val="1700"/>
              <a:buFont typeface="Lato"/>
              <a:buChar char="●"/>
            </a:pPr>
            <a:r>
              <a:rPr lang="en" sz="1700">
                <a:solidFill>
                  <a:srgbClr val="000000"/>
                </a:solidFill>
                <a:latin typeface="Lato"/>
                <a:ea typeface="Lato"/>
                <a:cs typeface="Lato"/>
                <a:sym typeface="Lato"/>
              </a:rPr>
              <a:t>Improper camera calibration</a:t>
            </a:r>
            <a:endParaRPr sz="1700">
              <a:solidFill>
                <a:srgbClr val="000000"/>
              </a:solidFill>
              <a:latin typeface="Lato"/>
              <a:ea typeface="Lato"/>
              <a:cs typeface="Lato"/>
              <a:sym typeface="Lato"/>
            </a:endParaRPr>
          </a:p>
          <a:p>
            <a:pPr indent="-336550" lvl="0" marL="457200" rtl="0" algn="l">
              <a:lnSpc>
                <a:spcPct val="150000"/>
              </a:lnSpc>
              <a:spcBef>
                <a:spcPts val="0"/>
              </a:spcBef>
              <a:spcAft>
                <a:spcPts val="0"/>
              </a:spcAft>
              <a:buClr>
                <a:schemeClr val="accent4"/>
              </a:buClr>
              <a:buSzPts val="1700"/>
              <a:buFont typeface="Lato"/>
              <a:buChar char="●"/>
            </a:pPr>
            <a:r>
              <a:rPr lang="en" sz="1700">
                <a:solidFill>
                  <a:srgbClr val="000000"/>
                </a:solidFill>
                <a:latin typeface="Lato"/>
                <a:ea typeface="Lato"/>
                <a:cs typeface="Lato"/>
                <a:sym typeface="Lato"/>
              </a:rPr>
              <a:t>Cameras out of focus</a:t>
            </a:r>
            <a:endParaRPr sz="1700">
              <a:solidFill>
                <a:srgbClr val="000000"/>
              </a:solidFill>
              <a:latin typeface="Lato"/>
              <a:ea typeface="Lato"/>
              <a:cs typeface="Lato"/>
              <a:sym typeface="Lato"/>
            </a:endParaRPr>
          </a:p>
        </p:txBody>
      </p:sp>
      <p:sp>
        <p:nvSpPr>
          <p:cNvPr id="105" name="Google Shape;105;p20"/>
          <p:cNvSpPr txBox="1"/>
          <p:nvPr/>
        </p:nvSpPr>
        <p:spPr>
          <a:xfrm>
            <a:off x="722725" y="916950"/>
            <a:ext cx="3275100" cy="8082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Lato"/>
                <a:ea typeface="Lato"/>
                <a:cs typeface="Lato"/>
                <a:sym typeface="Lato"/>
              </a:rPr>
              <a:t>Hardware Risks</a:t>
            </a:r>
            <a:endParaRPr b="1" sz="2000">
              <a:solidFill>
                <a:schemeClr val="dk1"/>
              </a:solidFill>
              <a:latin typeface="Lato"/>
              <a:ea typeface="Lato"/>
              <a:cs typeface="Lato"/>
              <a:sym typeface="Lato"/>
            </a:endParaRPr>
          </a:p>
        </p:txBody>
      </p:sp>
      <p:pic>
        <p:nvPicPr>
          <p:cNvPr id="106" name="Google Shape;106;p20"/>
          <p:cNvPicPr preferRelativeResize="0"/>
          <p:nvPr/>
        </p:nvPicPr>
        <p:blipFill>
          <a:blip r:embed="rId3">
            <a:alphaModFix/>
          </a:blip>
          <a:stretch>
            <a:fillRect/>
          </a:stretch>
        </p:blipFill>
        <p:spPr>
          <a:xfrm>
            <a:off x="6116950" y="1318250"/>
            <a:ext cx="2164275" cy="32463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0" name="Shape 110"/>
        <p:cNvGrpSpPr/>
        <p:nvPr/>
      </p:nvGrpSpPr>
      <p:grpSpPr>
        <a:xfrm>
          <a:off x="0" y="0"/>
          <a:ext cx="0" cy="0"/>
          <a:chOff x="0" y="0"/>
          <a:chExt cx="0" cy="0"/>
        </a:xfrm>
      </p:grpSpPr>
      <p:sp>
        <p:nvSpPr>
          <p:cNvPr id="111" name="Google Shape;111;p21"/>
          <p:cNvSpPr txBox="1"/>
          <p:nvPr>
            <p:ph type="title"/>
          </p:nvPr>
        </p:nvSpPr>
        <p:spPr>
          <a:xfrm>
            <a:off x="311700" y="178000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solidFill>
                  <a:srgbClr val="FFFFFF"/>
                </a:solidFill>
                <a:latin typeface="Droid Sans"/>
                <a:ea typeface="Droid Sans"/>
                <a:cs typeface="Droid Sans"/>
                <a:sym typeface="Droid Sans"/>
              </a:rPr>
              <a:t>Software</a:t>
            </a:r>
            <a:endParaRPr>
              <a:solidFill>
                <a:srgbClr val="FFFFFF"/>
              </a:solidFill>
              <a:latin typeface="Droid Sans"/>
              <a:ea typeface="Droid Sans"/>
              <a:cs typeface="Droid Sans"/>
              <a:sym typeface="Droid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5" name="Shape 115"/>
        <p:cNvGrpSpPr/>
        <p:nvPr/>
      </p:nvGrpSpPr>
      <p:grpSpPr>
        <a:xfrm>
          <a:off x="0" y="0"/>
          <a:ext cx="0" cy="0"/>
          <a:chOff x="0" y="0"/>
          <a:chExt cx="0" cy="0"/>
        </a:xfrm>
      </p:grpSpPr>
      <p:sp>
        <p:nvSpPr>
          <p:cNvPr id="116" name="Google Shape;116;p22"/>
          <p:cNvSpPr txBox="1"/>
          <p:nvPr>
            <p:ph type="title"/>
          </p:nvPr>
        </p:nvSpPr>
        <p:spPr>
          <a:xfrm>
            <a:off x="500075" y="987200"/>
            <a:ext cx="8520600" cy="572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2000">
                <a:solidFill>
                  <a:srgbClr val="000000"/>
                </a:solidFill>
                <a:latin typeface="Lato"/>
                <a:ea typeface="Lato"/>
                <a:cs typeface="Lato"/>
                <a:sym typeface="Lato"/>
              </a:rPr>
              <a:t>Software Overview</a:t>
            </a:r>
            <a:endParaRPr sz="2000">
              <a:solidFill>
                <a:srgbClr val="000000"/>
              </a:solidFill>
              <a:latin typeface="Lato"/>
              <a:ea typeface="Lato"/>
              <a:cs typeface="Lato"/>
              <a:sym typeface="Lato"/>
            </a:endParaRPr>
          </a:p>
        </p:txBody>
      </p:sp>
      <p:sp>
        <p:nvSpPr>
          <p:cNvPr id="117" name="Google Shape;117;p22"/>
          <p:cNvSpPr txBox="1"/>
          <p:nvPr>
            <p:ph idx="1" type="body"/>
          </p:nvPr>
        </p:nvSpPr>
        <p:spPr>
          <a:xfrm>
            <a:off x="387900" y="1559900"/>
            <a:ext cx="8520600" cy="30090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accent4"/>
              </a:buClr>
              <a:buSzPts val="1400"/>
              <a:buFont typeface="Lato"/>
              <a:buChar char="●"/>
            </a:pPr>
            <a:r>
              <a:rPr lang="en" sz="1400">
                <a:solidFill>
                  <a:srgbClr val="000000"/>
                </a:solidFill>
                <a:latin typeface="Lato"/>
                <a:ea typeface="Lato"/>
                <a:cs typeface="Lato"/>
                <a:sym typeface="Lato"/>
              </a:rPr>
              <a:t>Camera Calibration</a:t>
            </a:r>
            <a:endParaRPr sz="1400">
              <a:solidFill>
                <a:srgbClr val="000000"/>
              </a:solidFill>
              <a:latin typeface="Lato"/>
              <a:ea typeface="Lato"/>
              <a:cs typeface="Lato"/>
              <a:sym typeface="Lato"/>
            </a:endParaRPr>
          </a:p>
          <a:p>
            <a:pPr indent="-317500" lvl="1" marL="914400" rtl="0" algn="l">
              <a:spcBef>
                <a:spcPts val="0"/>
              </a:spcBef>
              <a:spcAft>
                <a:spcPts val="0"/>
              </a:spcAft>
              <a:buClr>
                <a:srgbClr val="000000"/>
              </a:buClr>
              <a:buSzPts val="1400"/>
              <a:buFont typeface="Lato"/>
              <a:buChar char="○"/>
            </a:pPr>
            <a:r>
              <a:rPr lang="en">
                <a:solidFill>
                  <a:srgbClr val="000000"/>
                </a:solidFill>
                <a:latin typeface="Lato"/>
                <a:ea typeface="Lato"/>
                <a:cs typeface="Lato"/>
                <a:sym typeface="Lato"/>
              </a:rPr>
              <a:t>MATLAB Stereo Calibration</a:t>
            </a:r>
            <a:endParaRPr>
              <a:solidFill>
                <a:srgbClr val="000000"/>
              </a:solidFill>
              <a:latin typeface="Lato"/>
              <a:ea typeface="Lato"/>
              <a:cs typeface="Lato"/>
              <a:sym typeface="Lato"/>
            </a:endParaRPr>
          </a:p>
          <a:p>
            <a:pPr indent="-317500" lvl="0" marL="457200" rtl="0" algn="l">
              <a:spcBef>
                <a:spcPts val="0"/>
              </a:spcBef>
              <a:spcAft>
                <a:spcPts val="0"/>
              </a:spcAft>
              <a:buClr>
                <a:schemeClr val="accent4"/>
              </a:buClr>
              <a:buSzPts val="1400"/>
              <a:buFont typeface="Lato"/>
              <a:buChar char="●"/>
            </a:pPr>
            <a:r>
              <a:rPr lang="en" sz="1400">
                <a:solidFill>
                  <a:srgbClr val="000000"/>
                </a:solidFill>
                <a:latin typeface="Lato"/>
                <a:ea typeface="Lato"/>
                <a:cs typeface="Lato"/>
                <a:sym typeface="Lato"/>
              </a:rPr>
              <a:t>Read Video Feed</a:t>
            </a:r>
            <a:endParaRPr sz="1400">
              <a:solidFill>
                <a:srgbClr val="000000"/>
              </a:solidFill>
              <a:latin typeface="Lato"/>
              <a:ea typeface="Lato"/>
              <a:cs typeface="Lato"/>
              <a:sym typeface="Lato"/>
            </a:endParaRPr>
          </a:p>
          <a:p>
            <a:pPr indent="-317500" lvl="0" marL="457200" rtl="0" algn="l">
              <a:spcBef>
                <a:spcPts val="0"/>
              </a:spcBef>
              <a:spcAft>
                <a:spcPts val="0"/>
              </a:spcAft>
              <a:buClr>
                <a:schemeClr val="accent4"/>
              </a:buClr>
              <a:buSzPts val="1400"/>
              <a:buFont typeface="Lato"/>
              <a:buChar char="●"/>
            </a:pPr>
            <a:r>
              <a:rPr lang="en" sz="1400">
                <a:solidFill>
                  <a:srgbClr val="000000"/>
                </a:solidFill>
                <a:latin typeface="Lato"/>
                <a:ea typeface="Lato"/>
                <a:cs typeface="Lato"/>
                <a:sym typeface="Lato"/>
              </a:rPr>
              <a:t>Identify 3D Space</a:t>
            </a:r>
            <a:endParaRPr sz="1400">
              <a:solidFill>
                <a:srgbClr val="000000"/>
              </a:solidFill>
              <a:latin typeface="Lato"/>
              <a:ea typeface="Lato"/>
              <a:cs typeface="Lato"/>
              <a:sym typeface="Lato"/>
            </a:endParaRPr>
          </a:p>
          <a:p>
            <a:pPr indent="-317500" lvl="1" marL="914400" rtl="0" algn="l">
              <a:spcBef>
                <a:spcPts val="0"/>
              </a:spcBef>
              <a:spcAft>
                <a:spcPts val="0"/>
              </a:spcAft>
              <a:buClr>
                <a:srgbClr val="000000"/>
              </a:buClr>
              <a:buSzPts val="1400"/>
              <a:buFont typeface="Lato"/>
              <a:buChar char="○"/>
            </a:pPr>
            <a:r>
              <a:rPr lang="en">
                <a:solidFill>
                  <a:srgbClr val="000000"/>
                </a:solidFill>
                <a:latin typeface="Lato"/>
                <a:ea typeface="Lato"/>
                <a:cs typeface="Lato"/>
                <a:sym typeface="Lato"/>
              </a:rPr>
              <a:t>Determine position of ball using April Tags</a:t>
            </a:r>
            <a:endParaRPr>
              <a:solidFill>
                <a:srgbClr val="000000"/>
              </a:solidFill>
              <a:latin typeface="Lato"/>
              <a:ea typeface="Lato"/>
              <a:cs typeface="Lato"/>
              <a:sym typeface="Lato"/>
            </a:endParaRPr>
          </a:p>
          <a:p>
            <a:pPr indent="-317500" lvl="0" marL="457200" rtl="0" algn="l">
              <a:spcBef>
                <a:spcPts val="0"/>
              </a:spcBef>
              <a:spcAft>
                <a:spcPts val="0"/>
              </a:spcAft>
              <a:buClr>
                <a:schemeClr val="accent4"/>
              </a:buClr>
              <a:buSzPts val="1400"/>
              <a:buFont typeface="Lato"/>
              <a:buChar char="●"/>
            </a:pPr>
            <a:r>
              <a:rPr lang="en" sz="1400">
                <a:solidFill>
                  <a:srgbClr val="000000"/>
                </a:solidFill>
                <a:latin typeface="Lato"/>
                <a:ea typeface="Lato"/>
                <a:cs typeface="Lato"/>
                <a:sym typeface="Lato"/>
              </a:rPr>
              <a:t>Send Data to GUI</a:t>
            </a:r>
            <a:endParaRPr sz="1400">
              <a:solidFill>
                <a:srgbClr val="000000"/>
              </a:solidFill>
              <a:latin typeface="Lato"/>
              <a:ea typeface="Lato"/>
              <a:cs typeface="Lato"/>
              <a:sym typeface="Lato"/>
            </a:endParaRPr>
          </a:p>
          <a:p>
            <a:pPr indent="-317500" lvl="1" marL="914400" rtl="0" algn="l">
              <a:spcBef>
                <a:spcPts val="0"/>
              </a:spcBef>
              <a:spcAft>
                <a:spcPts val="0"/>
              </a:spcAft>
              <a:buClr>
                <a:srgbClr val="000000"/>
              </a:buClr>
              <a:buSzPts val="1400"/>
              <a:buFont typeface="Lato"/>
              <a:buChar char="○"/>
            </a:pPr>
            <a:r>
              <a:rPr lang="en">
                <a:solidFill>
                  <a:srgbClr val="000000"/>
                </a:solidFill>
                <a:latin typeface="Lato"/>
                <a:ea typeface="Lato"/>
                <a:cs typeface="Lato"/>
                <a:sym typeface="Lato"/>
              </a:rPr>
              <a:t>Send ball position data to front end</a:t>
            </a:r>
            <a:endParaRPr>
              <a:solidFill>
                <a:srgbClr val="000000"/>
              </a:solidFill>
              <a:latin typeface="Lato"/>
              <a:ea typeface="Lato"/>
              <a:cs typeface="Lato"/>
              <a:sym typeface="Lato"/>
            </a:endParaRPr>
          </a:p>
          <a:p>
            <a:pPr indent="-317500" lvl="1" marL="914400" rtl="0" algn="l">
              <a:spcBef>
                <a:spcPts val="0"/>
              </a:spcBef>
              <a:spcAft>
                <a:spcPts val="0"/>
              </a:spcAft>
              <a:buClr>
                <a:srgbClr val="000000"/>
              </a:buClr>
              <a:buSzPts val="1400"/>
              <a:buFont typeface="Lato"/>
              <a:buChar char="○"/>
            </a:pPr>
            <a:r>
              <a:rPr lang="en">
                <a:solidFill>
                  <a:srgbClr val="000000"/>
                </a:solidFill>
                <a:latin typeface="Lato"/>
                <a:ea typeface="Lato"/>
                <a:cs typeface="Lato"/>
                <a:sym typeface="Lato"/>
              </a:rPr>
              <a:t>Turn respective LEDs on/off with state of ball</a:t>
            </a:r>
            <a:endParaRPr>
              <a:solidFill>
                <a:srgbClr val="000000"/>
              </a:solidFill>
              <a:latin typeface="Lato"/>
              <a:ea typeface="Lato"/>
              <a:cs typeface="Lato"/>
              <a:sym typeface="Lato"/>
            </a:endParaRPr>
          </a:p>
          <a:p>
            <a:pPr indent="-317500" lvl="0" marL="457200" rtl="0" algn="l">
              <a:spcBef>
                <a:spcPts val="0"/>
              </a:spcBef>
              <a:spcAft>
                <a:spcPts val="0"/>
              </a:spcAft>
              <a:buClr>
                <a:schemeClr val="accent4"/>
              </a:buClr>
              <a:buSzPts val="1400"/>
              <a:buFont typeface="Lato"/>
              <a:buChar char="●"/>
            </a:pPr>
            <a:r>
              <a:rPr lang="en" sz="1400">
                <a:solidFill>
                  <a:srgbClr val="000000"/>
                </a:solidFill>
                <a:latin typeface="Lato"/>
                <a:ea typeface="Lato"/>
                <a:cs typeface="Lato"/>
                <a:sym typeface="Lato"/>
              </a:rPr>
              <a:t>Error Logging</a:t>
            </a:r>
            <a:endParaRPr sz="1400">
              <a:solidFill>
                <a:srgbClr val="000000"/>
              </a:solidFill>
              <a:latin typeface="Lato"/>
              <a:ea typeface="Lato"/>
              <a:cs typeface="Lato"/>
              <a:sym typeface="Lato"/>
            </a:endParaRPr>
          </a:p>
          <a:p>
            <a:pPr indent="-317500" lvl="1" marL="914400" rtl="0" algn="l">
              <a:spcBef>
                <a:spcPts val="0"/>
              </a:spcBef>
              <a:spcAft>
                <a:spcPts val="0"/>
              </a:spcAft>
              <a:buClr>
                <a:srgbClr val="000000"/>
              </a:buClr>
              <a:buSzPts val="1400"/>
              <a:buFont typeface="Lato"/>
              <a:buChar char="○"/>
            </a:pPr>
            <a:r>
              <a:rPr lang="en">
                <a:solidFill>
                  <a:srgbClr val="000000"/>
                </a:solidFill>
                <a:latin typeface="Lato"/>
                <a:ea typeface="Lato"/>
                <a:cs typeface="Lato"/>
                <a:sym typeface="Lato"/>
              </a:rPr>
              <a:t>Log where the program is at all times</a:t>
            </a:r>
            <a:endParaRPr>
              <a:solidFill>
                <a:srgbClr val="000000"/>
              </a:solidFill>
              <a:latin typeface="Lato"/>
              <a:ea typeface="Lato"/>
              <a:cs typeface="Lato"/>
              <a:sym typeface="Lato"/>
            </a:endParaRPr>
          </a:p>
          <a:p>
            <a:pPr indent="-317500" lvl="1" marL="914400" rtl="0" algn="l">
              <a:spcBef>
                <a:spcPts val="0"/>
              </a:spcBef>
              <a:spcAft>
                <a:spcPts val="0"/>
              </a:spcAft>
              <a:buClr>
                <a:srgbClr val="000000"/>
              </a:buClr>
              <a:buSzPts val="1400"/>
              <a:buFont typeface="Lato"/>
              <a:buChar char="○"/>
            </a:pPr>
            <a:r>
              <a:rPr lang="en">
                <a:solidFill>
                  <a:srgbClr val="000000"/>
                </a:solidFill>
                <a:latin typeface="Lato"/>
                <a:ea typeface="Lato"/>
                <a:cs typeface="Lato"/>
                <a:sym typeface="Lato"/>
              </a:rPr>
              <a:t>Log ball coordinates and camera </a:t>
            </a:r>
            <a:r>
              <a:rPr lang="en">
                <a:solidFill>
                  <a:srgbClr val="000000"/>
                </a:solidFill>
                <a:latin typeface="Lato"/>
                <a:ea typeface="Lato"/>
                <a:cs typeface="Lato"/>
                <a:sym typeface="Lato"/>
              </a:rPr>
              <a:t>position data</a:t>
            </a:r>
            <a:endParaRPr>
              <a:solidFill>
                <a:srgbClr val="000000"/>
              </a:solidFill>
              <a:latin typeface="Lato"/>
              <a:ea typeface="Lato"/>
              <a:cs typeface="Lato"/>
              <a:sym typeface="Lato"/>
            </a:endParaRPr>
          </a:p>
        </p:txBody>
      </p:sp>
      <p:sp>
        <p:nvSpPr>
          <p:cNvPr id="118" name="Google Shape;118;p22"/>
          <p:cNvSpPr/>
          <p:nvPr/>
        </p:nvSpPr>
        <p:spPr>
          <a:xfrm>
            <a:off x="0" y="-250"/>
            <a:ext cx="9144000" cy="4149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500050" y="1427800"/>
            <a:ext cx="8520600" cy="572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2000">
                <a:latin typeface="Lato"/>
                <a:ea typeface="Lato"/>
                <a:cs typeface="Lato"/>
                <a:sym typeface="Lato"/>
              </a:rPr>
              <a:t>Software Risks</a:t>
            </a:r>
            <a:endParaRPr sz="2000">
              <a:latin typeface="Lato"/>
              <a:ea typeface="Lato"/>
              <a:cs typeface="Lato"/>
              <a:sym typeface="Lato"/>
            </a:endParaRPr>
          </a:p>
        </p:txBody>
      </p:sp>
      <p:sp>
        <p:nvSpPr>
          <p:cNvPr id="124" name="Google Shape;124;p23"/>
          <p:cNvSpPr txBox="1"/>
          <p:nvPr>
            <p:ph idx="1" type="body"/>
          </p:nvPr>
        </p:nvSpPr>
        <p:spPr>
          <a:xfrm>
            <a:off x="387900" y="1912100"/>
            <a:ext cx="4966200" cy="28632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Clr>
                <a:schemeClr val="accent4"/>
              </a:buClr>
              <a:buSzPts val="1700"/>
              <a:buFont typeface="Lato"/>
              <a:buChar char="●"/>
            </a:pPr>
            <a:r>
              <a:rPr lang="en" sz="1700">
                <a:solidFill>
                  <a:schemeClr val="dk1"/>
                </a:solidFill>
                <a:latin typeface="Lato"/>
                <a:ea typeface="Lato"/>
                <a:cs typeface="Lato"/>
                <a:sym typeface="Lato"/>
              </a:rPr>
              <a:t>Software may not be able to recognize partially obstructed target</a:t>
            </a:r>
            <a:endParaRPr sz="1700">
              <a:solidFill>
                <a:schemeClr val="dk1"/>
              </a:solidFill>
              <a:latin typeface="Lato"/>
              <a:ea typeface="Lato"/>
              <a:cs typeface="Lato"/>
              <a:sym typeface="Lato"/>
            </a:endParaRPr>
          </a:p>
          <a:p>
            <a:pPr indent="-336550" lvl="0" marL="457200" rtl="0" algn="l">
              <a:spcBef>
                <a:spcPts val="0"/>
              </a:spcBef>
              <a:spcAft>
                <a:spcPts val="0"/>
              </a:spcAft>
              <a:buClr>
                <a:schemeClr val="accent4"/>
              </a:buClr>
              <a:buSzPts val="1700"/>
              <a:buFont typeface="Lato"/>
              <a:buChar char="●"/>
            </a:pPr>
            <a:r>
              <a:rPr lang="en" sz="1700">
                <a:solidFill>
                  <a:schemeClr val="dk1"/>
                </a:solidFill>
                <a:latin typeface="Lato"/>
                <a:ea typeface="Lato"/>
                <a:cs typeface="Lato"/>
                <a:sym typeface="Lato"/>
              </a:rPr>
              <a:t>Hardware may fail to capture image data</a:t>
            </a:r>
            <a:endParaRPr sz="1700">
              <a:solidFill>
                <a:schemeClr val="dk1"/>
              </a:solidFill>
              <a:latin typeface="Lato"/>
              <a:ea typeface="Lato"/>
              <a:cs typeface="Lato"/>
              <a:sym typeface="Lato"/>
            </a:endParaRPr>
          </a:p>
          <a:p>
            <a:pPr indent="-336550" lvl="0" marL="457200" rtl="0" algn="l">
              <a:spcBef>
                <a:spcPts val="0"/>
              </a:spcBef>
              <a:spcAft>
                <a:spcPts val="0"/>
              </a:spcAft>
              <a:buClr>
                <a:schemeClr val="accent4"/>
              </a:buClr>
              <a:buSzPts val="1700"/>
              <a:buFont typeface="Lato"/>
              <a:buChar char="●"/>
            </a:pPr>
            <a:r>
              <a:rPr lang="en" sz="1700">
                <a:solidFill>
                  <a:schemeClr val="dk1"/>
                </a:solidFill>
                <a:latin typeface="Lato"/>
                <a:ea typeface="Lato"/>
                <a:cs typeface="Lato"/>
                <a:sym typeface="Lato"/>
              </a:rPr>
              <a:t>Image data could be lost if Wi-Fi connection is not </a:t>
            </a:r>
            <a:r>
              <a:rPr lang="en" sz="1700">
                <a:solidFill>
                  <a:schemeClr val="dk1"/>
                </a:solidFill>
                <a:latin typeface="Lato"/>
                <a:ea typeface="Lato"/>
                <a:cs typeface="Lato"/>
                <a:sym typeface="Lato"/>
              </a:rPr>
              <a:t>strong</a:t>
            </a:r>
            <a:endParaRPr sz="1700">
              <a:solidFill>
                <a:schemeClr val="dk1"/>
              </a:solidFill>
              <a:latin typeface="Lato"/>
              <a:ea typeface="Lato"/>
              <a:cs typeface="Lato"/>
              <a:sym typeface="Lato"/>
            </a:endParaRPr>
          </a:p>
          <a:p>
            <a:pPr indent="-336550" lvl="0" marL="457200" rtl="0" algn="l">
              <a:spcBef>
                <a:spcPts val="0"/>
              </a:spcBef>
              <a:spcAft>
                <a:spcPts val="0"/>
              </a:spcAft>
              <a:buClr>
                <a:schemeClr val="accent4"/>
              </a:buClr>
              <a:buSzPts val="1700"/>
              <a:buFont typeface="Lato"/>
              <a:buChar char="●"/>
            </a:pPr>
            <a:r>
              <a:rPr lang="en" sz="1700">
                <a:solidFill>
                  <a:schemeClr val="dk1"/>
                </a:solidFill>
                <a:latin typeface="Lato"/>
                <a:ea typeface="Lato"/>
                <a:cs typeface="Lato"/>
                <a:sym typeface="Lato"/>
              </a:rPr>
              <a:t>Calibration could fail causing the software to not be able to recognize any object</a:t>
            </a:r>
            <a:endParaRPr sz="1700">
              <a:solidFill>
                <a:schemeClr val="dk1"/>
              </a:solidFill>
              <a:latin typeface="Lato"/>
              <a:ea typeface="Lato"/>
              <a:cs typeface="Lato"/>
              <a:sym typeface="Lato"/>
            </a:endParaRPr>
          </a:p>
        </p:txBody>
      </p:sp>
      <p:sp>
        <p:nvSpPr>
          <p:cNvPr id="125" name="Google Shape;125;p23"/>
          <p:cNvSpPr/>
          <p:nvPr/>
        </p:nvSpPr>
        <p:spPr>
          <a:xfrm>
            <a:off x="0" y="-250"/>
            <a:ext cx="9144000" cy="4149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6" name="Google Shape;126;p23"/>
          <p:cNvPicPr preferRelativeResize="0"/>
          <p:nvPr/>
        </p:nvPicPr>
        <p:blipFill rotWithShape="1">
          <a:blip r:embed="rId3">
            <a:alphaModFix/>
          </a:blip>
          <a:srcRect b="7927" l="0" r="0" t="0"/>
          <a:stretch/>
        </p:blipFill>
        <p:spPr>
          <a:xfrm>
            <a:off x="6216850" y="1912100"/>
            <a:ext cx="2057400" cy="20434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0" name="Shape 130"/>
        <p:cNvGrpSpPr/>
        <p:nvPr/>
      </p:nvGrpSpPr>
      <p:grpSpPr>
        <a:xfrm>
          <a:off x="0" y="0"/>
          <a:ext cx="0" cy="0"/>
          <a:chOff x="0" y="0"/>
          <a:chExt cx="0" cy="0"/>
        </a:xfrm>
      </p:grpSpPr>
      <p:sp>
        <p:nvSpPr>
          <p:cNvPr id="131" name="Google Shape;131;p2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latin typeface="Droid Sans"/>
                <a:ea typeface="Droid Sans"/>
                <a:cs typeface="Droid Sans"/>
                <a:sym typeface="Droid Sans"/>
              </a:rPr>
              <a:t>GUI</a:t>
            </a:r>
            <a:endParaRPr>
              <a:latin typeface="Droid Sans"/>
              <a:ea typeface="Droid Sans"/>
              <a:cs typeface="Droid Sans"/>
              <a:sym typeface="Droid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5"/>
          <p:cNvSpPr txBox="1"/>
          <p:nvPr>
            <p:ph type="title"/>
          </p:nvPr>
        </p:nvSpPr>
        <p:spPr>
          <a:xfrm>
            <a:off x="387900" y="865550"/>
            <a:ext cx="8520600" cy="572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2000">
                <a:latin typeface="Lato"/>
                <a:ea typeface="Lato"/>
                <a:cs typeface="Lato"/>
                <a:sym typeface="Lato"/>
              </a:rPr>
              <a:t>GUI Layout</a:t>
            </a:r>
            <a:endParaRPr sz="2000">
              <a:latin typeface="Lato"/>
              <a:ea typeface="Lato"/>
              <a:cs typeface="Lato"/>
              <a:sym typeface="Lato"/>
            </a:endParaRPr>
          </a:p>
        </p:txBody>
      </p:sp>
      <p:sp>
        <p:nvSpPr>
          <p:cNvPr id="137" name="Google Shape;137;p25"/>
          <p:cNvSpPr txBox="1"/>
          <p:nvPr>
            <p:ph idx="1" type="body"/>
          </p:nvPr>
        </p:nvSpPr>
        <p:spPr>
          <a:xfrm>
            <a:off x="387900" y="1591725"/>
            <a:ext cx="8520600" cy="3065100"/>
          </a:xfrm>
          <a:prstGeom prst="rect">
            <a:avLst/>
          </a:prstGeom>
        </p:spPr>
        <p:txBody>
          <a:bodyPr anchorCtr="0" anchor="t" bIns="91425" lIns="91425" spcFirstLastPara="1" rIns="91425" wrap="square" tIns="91425">
            <a:normAutofit/>
          </a:bodyPr>
          <a:lstStyle/>
          <a:p>
            <a:pPr indent="-330200" lvl="0" marL="457200" rtl="0" algn="l">
              <a:lnSpc>
                <a:spcPct val="100000"/>
              </a:lnSpc>
              <a:spcBef>
                <a:spcPts val="0"/>
              </a:spcBef>
              <a:spcAft>
                <a:spcPts val="0"/>
              </a:spcAft>
              <a:buClr>
                <a:schemeClr val="accent4"/>
              </a:buClr>
              <a:buSzPts val="1600"/>
              <a:buFont typeface="Lato"/>
              <a:buChar char="●"/>
            </a:pPr>
            <a:r>
              <a:rPr lang="en" sz="1600">
                <a:solidFill>
                  <a:srgbClr val="000000"/>
                </a:solidFill>
                <a:latin typeface="Lato"/>
                <a:ea typeface="Lato"/>
                <a:cs typeface="Lato"/>
                <a:sym typeface="Lato"/>
              </a:rPr>
              <a:t>Designed in Python + REMI</a:t>
            </a:r>
            <a:endParaRPr sz="1600">
              <a:solidFill>
                <a:srgbClr val="000000"/>
              </a:solidFill>
              <a:latin typeface="Lato"/>
              <a:ea typeface="Lato"/>
              <a:cs typeface="Lato"/>
              <a:sym typeface="Lato"/>
            </a:endParaRPr>
          </a:p>
          <a:p>
            <a:pPr indent="-330200" lvl="0" marL="457200" rtl="0" algn="l">
              <a:lnSpc>
                <a:spcPct val="100000"/>
              </a:lnSpc>
              <a:spcBef>
                <a:spcPts val="0"/>
              </a:spcBef>
              <a:spcAft>
                <a:spcPts val="0"/>
              </a:spcAft>
              <a:buClr>
                <a:schemeClr val="accent4"/>
              </a:buClr>
              <a:buSzPts val="1600"/>
              <a:buFont typeface="Lato"/>
              <a:buChar char="●"/>
            </a:pPr>
            <a:r>
              <a:rPr lang="en" sz="1600">
                <a:solidFill>
                  <a:srgbClr val="000000"/>
                </a:solidFill>
                <a:latin typeface="Lato"/>
                <a:ea typeface="Lato"/>
                <a:cs typeface="Lato"/>
                <a:sym typeface="Lato"/>
              </a:rPr>
              <a:t>Display of a plot to depict system accuracy (Single Tab)</a:t>
            </a:r>
            <a:endParaRPr sz="1600">
              <a:solidFill>
                <a:srgbClr val="000000"/>
              </a:solidFill>
              <a:latin typeface="Lato"/>
              <a:ea typeface="Lato"/>
              <a:cs typeface="Lato"/>
              <a:sym typeface="Lato"/>
            </a:endParaRPr>
          </a:p>
          <a:p>
            <a:pPr indent="-330200" lvl="1" marL="914400" rtl="0" algn="l">
              <a:lnSpc>
                <a:spcPct val="100000"/>
              </a:lnSpc>
              <a:spcBef>
                <a:spcPts val="0"/>
              </a:spcBef>
              <a:spcAft>
                <a:spcPts val="0"/>
              </a:spcAft>
              <a:buClr>
                <a:srgbClr val="000000"/>
              </a:buClr>
              <a:buSzPts val="1600"/>
              <a:buFont typeface="Lato"/>
              <a:buChar char="○"/>
            </a:pPr>
            <a:r>
              <a:rPr lang="en" sz="1600">
                <a:solidFill>
                  <a:srgbClr val="000000"/>
                </a:solidFill>
                <a:latin typeface="Lato"/>
                <a:ea typeface="Lato"/>
                <a:cs typeface="Lato"/>
                <a:sym typeface="Lato"/>
              </a:rPr>
              <a:t>Allow user to perform test via buttons and input text fields</a:t>
            </a:r>
            <a:endParaRPr sz="1600">
              <a:solidFill>
                <a:srgbClr val="000000"/>
              </a:solidFill>
              <a:latin typeface="Lato"/>
              <a:ea typeface="Lato"/>
              <a:cs typeface="Lato"/>
              <a:sym typeface="Lato"/>
            </a:endParaRPr>
          </a:p>
          <a:p>
            <a:pPr indent="-330200" lvl="0" marL="457200" rtl="0" algn="l">
              <a:spcBef>
                <a:spcPts val="0"/>
              </a:spcBef>
              <a:spcAft>
                <a:spcPts val="0"/>
              </a:spcAft>
              <a:buClr>
                <a:schemeClr val="accent4"/>
              </a:buClr>
              <a:buSzPts val="1600"/>
              <a:buFont typeface="Lato"/>
              <a:buChar char="●"/>
            </a:pPr>
            <a:r>
              <a:rPr lang="en" sz="1600">
                <a:solidFill>
                  <a:srgbClr val="000000"/>
                </a:solidFill>
                <a:latin typeface="Lato"/>
                <a:ea typeface="Lato"/>
                <a:cs typeface="Lato"/>
                <a:sym typeface="Lato"/>
              </a:rPr>
              <a:t>Display of coefficients of restitution Diagram (Single Tab) </a:t>
            </a:r>
            <a:endParaRPr sz="1600">
              <a:solidFill>
                <a:srgbClr val="000000"/>
              </a:solidFill>
              <a:latin typeface="Lato"/>
              <a:ea typeface="Lato"/>
              <a:cs typeface="Lato"/>
              <a:sym typeface="Lato"/>
            </a:endParaRPr>
          </a:p>
          <a:p>
            <a:pPr indent="-330200" lvl="1" marL="914400" rtl="0" algn="l">
              <a:lnSpc>
                <a:spcPct val="100000"/>
              </a:lnSpc>
              <a:spcBef>
                <a:spcPts val="0"/>
              </a:spcBef>
              <a:spcAft>
                <a:spcPts val="0"/>
              </a:spcAft>
              <a:buClr>
                <a:srgbClr val="000000"/>
              </a:buClr>
              <a:buSzPts val="1600"/>
              <a:buFont typeface="Lato"/>
              <a:buChar char="○"/>
            </a:pPr>
            <a:r>
              <a:rPr lang="en" sz="1600">
                <a:solidFill>
                  <a:schemeClr val="dk1"/>
                </a:solidFill>
                <a:latin typeface="Lato"/>
                <a:ea typeface="Lato"/>
                <a:cs typeface="Lato"/>
                <a:sym typeface="Lato"/>
              </a:rPr>
              <a:t>Allow user to perform test via buttons and input text fields</a:t>
            </a:r>
            <a:endParaRPr sz="1600">
              <a:solidFill>
                <a:srgbClr val="000000"/>
              </a:solidFill>
              <a:latin typeface="Lato"/>
              <a:ea typeface="Lato"/>
              <a:cs typeface="Lato"/>
              <a:sym typeface="Lato"/>
            </a:endParaRPr>
          </a:p>
          <a:p>
            <a:pPr indent="-330200" lvl="0" marL="457200" rtl="0" algn="l">
              <a:spcBef>
                <a:spcPts val="0"/>
              </a:spcBef>
              <a:spcAft>
                <a:spcPts val="0"/>
              </a:spcAft>
              <a:buClr>
                <a:schemeClr val="accent4"/>
              </a:buClr>
              <a:buSzPts val="1600"/>
              <a:buFont typeface="Lato"/>
              <a:buChar char="●"/>
            </a:pPr>
            <a:r>
              <a:rPr lang="en" sz="1600">
                <a:solidFill>
                  <a:srgbClr val="000000"/>
                </a:solidFill>
                <a:latin typeface="Lato"/>
                <a:ea typeface="Lato"/>
                <a:cs typeface="Lato"/>
                <a:sym typeface="Lato"/>
              </a:rPr>
              <a:t>Video replay of 3D </a:t>
            </a:r>
            <a:r>
              <a:rPr lang="en" sz="1600">
                <a:solidFill>
                  <a:srgbClr val="000000"/>
                </a:solidFill>
                <a:latin typeface="Lato"/>
                <a:ea typeface="Lato"/>
                <a:cs typeface="Lato"/>
                <a:sym typeface="Lato"/>
              </a:rPr>
              <a:t>visualization</a:t>
            </a:r>
            <a:r>
              <a:rPr lang="en" sz="1600">
                <a:solidFill>
                  <a:srgbClr val="000000"/>
                </a:solidFill>
                <a:latin typeface="Lato"/>
                <a:ea typeface="Lato"/>
                <a:cs typeface="Lato"/>
                <a:sym typeface="Lato"/>
              </a:rPr>
              <a:t> of tennis court using x,y,z positions of ball from </a:t>
            </a:r>
            <a:r>
              <a:rPr lang="en" sz="1600">
                <a:solidFill>
                  <a:srgbClr val="000000"/>
                </a:solidFill>
                <a:latin typeface="Lato"/>
                <a:ea typeface="Lato"/>
                <a:cs typeface="Lato"/>
                <a:sym typeface="Lato"/>
              </a:rPr>
              <a:t>Xilinx Zynq-7020</a:t>
            </a:r>
            <a:r>
              <a:rPr lang="en" sz="1600">
                <a:solidFill>
                  <a:srgbClr val="000000"/>
                </a:solidFill>
                <a:latin typeface="Lato"/>
                <a:ea typeface="Lato"/>
                <a:cs typeface="Lato"/>
                <a:sym typeface="Lato"/>
              </a:rPr>
              <a:t> device </a:t>
            </a:r>
            <a:r>
              <a:rPr lang="en" sz="1600">
                <a:solidFill>
                  <a:srgbClr val="000000"/>
                </a:solidFill>
                <a:latin typeface="Lato"/>
                <a:ea typeface="Lato"/>
                <a:cs typeface="Lato"/>
                <a:sym typeface="Lato"/>
              </a:rPr>
              <a:t> (Single Tab) </a:t>
            </a:r>
            <a:endParaRPr sz="1600">
              <a:solidFill>
                <a:srgbClr val="000000"/>
              </a:solidFill>
              <a:latin typeface="Lato"/>
              <a:ea typeface="Lato"/>
              <a:cs typeface="Lato"/>
              <a:sym typeface="Lato"/>
            </a:endParaRPr>
          </a:p>
          <a:p>
            <a:pPr indent="-330200" lvl="1" marL="914400" rtl="0" algn="l">
              <a:spcBef>
                <a:spcPts val="0"/>
              </a:spcBef>
              <a:spcAft>
                <a:spcPts val="0"/>
              </a:spcAft>
              <a:buClr>
                <a:srgbClr val="000000"/>
              </a:buClr>
              <a:buSzPts val="1600"/>
              <a:buFont typeface="Lato"/>
              <a:buChar char="○"/>
            </a:pPr>
            <a:r>
              <a:rPr lang="en" sz="1600">
                <a:solidFill>
                  <a:srgbClr val="000000"/>
                </a:solidFill>
                <a:latin typeface="Lato"/>
                <a:ea typeface="Lato"/>
                <a:cs typeface="Lato"/>
                <a:sym typeface="Lato"/>
              </a:rPr>
              <a:t>Text box for X, Y and Z positions of ball </a:t>
            </a:r>
            <a:endParaRPr sz="1600">
              <a:solidFill>
                <a:srgbClr val="000000"/>
              </a:solidFill>
              <a:latin typeface="Lato"/>
              <a:ea typeface="Lato"/>
              <a:cs typeface="Lato"/>
              <a:sym typeface="Lato"/>
            </a:endParaRPr>
          </a:p>
          <a:p>
            <a:pPr indent="-330200" lvl="1" marL="914400" rtl="0" algn="l">
              <a:spcBef>
                <a:spcPts val="0"/>
              </a:spcBef>
              <a:spcAft>
                <a:spcPts val="0"/>
              </a:spcAft>
              <a:buClr>
                <a:srgbClr val="000000"/>
              </a:buClr>
              <a:buSzPts val="1600"/>
              <a:buFont typeface="Lato"/>
              <a:buChar char="○"/>
            </a:pPr>
            <a:r>
              <a:rPr lang="en" sz="1600">
                <a:solidFill>
                  <a:srgbClr val="000000"/>
                </a:solidFill>
                <a:latin typeface="Lato"/>
                <a:ea typeface="Lato"/>
                <a:cs typeface="Lato"/>
                <a:sym typeface="Lato"/>
              </a:rPr>
              <a:t>Text field for the state of ball (Out or In)</a:t>
            </a:r>
            <a:endParaRPr sz="1600">
              <a:solidFill>
                <a:srgbClr val="000000"/>
              </a:solidFill>
              <a:latin typeface="Lato"/>
              <a:ea typeface="Lato"/>
              <a:cs typeface="Lato"/>
              <a:sym typeface="Lato"/>
            </a:endParaRPr>
          </a:p>
          <a:p>
            <a:pPr indent="0" lvl="0" marL="457200" rtl="0" algn="l">
              <a:spcBef>
                <a:spcPts val="1200"/>
              </a:spcBef>
              <a:spcAft>
                <a:spcPts val="1200"/>
              </a:spcAft>
              <a:buNone/>
            </a:pPr>
            <a:r>
              <a:t/>
            </a:r>
            <a:endParaRPr sz="1100">
              <a:solidFill>
                <a:srgbClr val="000000"/>
              </a:solidFill>
              <a:latin typeface="Lato"/>
              <a:ea typeface="Lato"/>
              <a:cs typeface="Lato"/>
              <a:sym typeface="Lato"/>
            </a:endParaRPr>
          </a:p>
        </p:txBody>
      </p:sp>
      <p:sp>
        <p:nvSpPr>
          <p:cNvPr id="138" name="Google Shape;138;p25"/>
          <p:cNvSpPr/>
          <p:nvPr/>
        </p:nvSpPr>
        <p:spPr>
          <a:xfrm>
            <a:off x="0" y="-250"/>
            <a:ext cx="9144000" cy="4149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9" name="Google Shape;139;p25"/>
          <p:cNvPicPr preferRelativeResize="0"/>
          <p:nvPr/>
        </p:nvPicPr>
        <p:blipFill>
          <a:blip r:embed="rId3">
            <a:alphaModFix/>
          </a:blip>
          <a:stretch>
            <a:fillRect/>
          </a:stretch>
        </p:blipFill>
        <p:spPr>
          <a:xfrm>
            <a:off x="7157225" y="1135694"/>
            <a:ext cx="1264925" cy="10541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5"/>
        </a:solidFill>
      </p:bgPr>
    </p:bg>
    <p:spTree>
      <p:nvGrpSpPr>
        <p:cNvPr id="143" name="Shape 143"/>
        <p:cNvGrpSpPr/>
        <p:nvPr/>
      </p:nvGrpSpPr>
      <p:grpSpPr>
        <a:xfrm>
          <a:off x="0" y="0"/>
          <a:ext cx="0" cy="0"/>
          <a:chOff x="0" y="0"/>
          <a:chExt cx="0" cy="0"/>
        </a:xfrm>
      </p:grpSpPr>
      <p:sp>
        <p:nvSpPr>
          <p:cNvPr id="144" name="Google Shape;144;p26"/>
          <p:cNvSpPr txBox="1"/>
          <p:nvPr>
            <p:ph type="title"/>
          </p:nvPr>
        </p:nvSpPr>
        <p:spPr>
          <a:xfrm>
            <a:off x="365125" y="65670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00">
                <a:solidFill>
                  <a:schemeClr val="lt1"/>
                </a:solidFill>
                <a:latin typeface="Lato"/>
                <a:ea typeface="Lato"/>
                <a:cs typeface="Lato"/>
                <a:sym typeface="Lato"/>
              </a:rPr>
              <a:t>Ball Tracking Example</a:t>
            </a:r>
            <a:endParaRPr sz="2000">
              <a:solidFill>
                <a:schemeClr val="lt1"/>
              </a:solidFill>
              <a:latin typeface="Lato"/>
              <a:ea typeface="Lato"/>
              <a:cs typeface="Lato"/>
              <a:sym typeface="Lato"/>
            </a:endParaRPr>
          </a:p>
        </p:txBody>
      </p:sp>
      <p:sp>
        <p:nvSpPr>
          <p:cNvPr id="145" name="Google Shape;145;p26"/>
          <p:cNvSpPr txBox="1"/>
          <p:nvPr/>
        </p:nvSpPr>
        <p:spPr>
          <a:xfrm>
            <a:off x="4183150" y="4222675"/>
            <a:ext cx="24732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rgbClr val="FFFFFF"/>
                </a:solidFill>
              </a:rPr>
              <a:t>Source: Ball Tracking with OpenCV (YouTube)</a:t>
            </a:r>
            <a:endParaRPr sz="1600">
              <a:solidFill>
                <a:srgbClr val="FFFFFF"/>
              </a:solidFill>
              <a:highlight>
                <a:srgbClr val="181818"/>
              </a:highlight>
              <a:latin typeface="Roboto"/>
              <a:ea typeface="Roboto"/>
              <a:cs typeface="Roboto"/>
              <a:sym typeface="Roboto"/>
            </a:endParaRPr>
          </a:p>
          <a:p>
            <a:pPr indent="0" lvl="0" marL="0" rtl="0" algn="l">
              <a:spcBef>
                <a:spcPts val="0"/>
              </a:spcBef>
              <a:spcAft>
                <a:spcPts val="0"/>
              </a:spcAft>
              <a:buNone/>
            </a:pPr>
            <a:r>
              <a:t/>
            </a:r>
            <a:endParaRPr/>
          </a:p>
        </p:txBody>
      </p:sp>
      <p:pic>
        <p:nvPicPr>
          <p:cNvPr id="146" name="Google Shape;146;p26"/>
          <p:cNvPicPr preferRelativeResize="0"/>
          <p:nvPr/>
        </p:nvPicPr>
        <p:blipFill>
          <a:blip r:embed="rId3">
            <a:alphaModFix/>
          </a:blip>
          <a:stretch>
            <a:fillRect/>
          </a:stretch>
        </p:blipFill>
        <p:spPr>
          <a:xfrm>
            <a:off x="2405900" y="1229400"/>
            <a:ext cx="4332200" cy="32941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7"/>
          <p:cNvSpPr/>
          <p:nvPr/>
        </p:nvSpPr>
        <p:spPr>
          <a:xfrm>
            <a:off x="0" y="-250"/>
            <a:ext cx="9144000" cy="4149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7"/>
          <p:cNvSpPr txBox="1"/>
          <p:nvPr>
            <p:ph type="title"/>
          </p:nvPr>
        </p:nvSpPr>
        <p:spPr>
          <a:xfrm>
            <a:off x="507500" y="958500"/>
            <a:ext cx="8520600" cy="572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2000">
                <a:latin typeface="Lato"/>
                <a:ea typeface="Lato"/>
                <a:cs typeface="Lato"/>
                <a:sym typeface="Lato"/>
              </a:rPr>
              <a:t>GUI Risk Examples</a:t>
            </a:r>
            <a:endParaRPr sz="2000">
              <a:latin typeface="Lato"/>
              <a:ea typeface="Lato"/>
              <a:cs typeface="Lato"/>
              <a:sym typeface="Lato"/>
            </a:endParaRPr>
          </a:p>
        </p:txBody>
      </p:sp>
      <p:sp>
        <p:nvSpPr>
          <p:cNvPr id="153" name="Google Shape;153;p27"/>
          <p:cNvSpPr txBox="1"/>
          <p:nvPr>
            <p:ph idx="1" type="body"/>
          </p:nvPr>
        </p:nvSpPr>
        <p:spPr>
          <a:xfrm>
            <a:off x="507500" y="1654100"/>
            <a:ext cx="3649500" cy="3292200"/>
          </a:xfrm>
          <a:prstGeom prst="rect">
            <a:avLst/>
          </a:prstGeom>
        </p:spPr>
        <p:txBody>
          <a:bodyPr anchorCtr="0" anchor="t" bIns="91425" lIns="91425" spcFirstLastPara="1" rIns="91425" wrap="square" tIns="91425">
            <a:normAutofit lnSpcReduction="10000"/>
          </a:bodyPr>
          <a:lstStyle/>
          <a:p>
            <a:pPr indent="-349250" lvl="0" marL="457200" rtl="0" algn="l">
              <a:lnSpc>
                <a:spcPct val="100000"/>
              </a:lnSpc>
              <a:spcBef>
                <a:spcPts val="0"/>
              </a:spcBef>
              <a:spcAft>
                <a:spcPts val="0"/>
              </a:spcAft>
              <a:buClr>
                <a:schemeClr val="accent4"/>
              </a:buClr>
              <a:buSzPts val="1900"/>
              <a:buFont typeface="Lato"/>
              <a:buChar char="●"/>
            </a:pPr>
            <a:r>
              <a:rPr lang="en" sz="1900">
                <a:solidFill>
                  <a:srgbClr val="000000"/>
                </a:solidFill>
                <a:latin typeface="Lato"/>
                <a:ea typeface="Lato"/>
                <a:cs typeface="Lato"/>
                <a:sym typeface="Lato"/>
              </a:rPr>
              <a:t>Hardware/Software</a:t>
            </a:r>
            <a:endParaRPr sz="1900">
              <a:solidFill>
                <a:srgbClr val="000000"/>
              </a:solidFill>
              <a:latin typeface="Lato"/>
              <a:ea typeface="Lato"/>
              <a:cs typeface="Lato"/>
              <a:sym typeface="Lato"/>
            </a:endParaRPr>
          </a:p>
          <a:p>
            <a:pPr indent="-349250" lvl="1" marL="914400" rtl="0" algn="l">
              <a:lnSpc>
                <a:spcPct val="100000"/>
              </a:lnSpc>
              <a:spcBef>
                <a:spcPts val="0"/>
              </a:spcBef>
              <a:spcAft>
                <a:spcPts val="0"/>
              </a:spcAft>
              <a:buClr>
                <a:srgbClr val="000000"/>
              </a:buClr>
              <a:buSzPts val="1900"/>
              <a:buFont typeface="Lato"/>
              <a:buChar char="○"/>
            </a:pPr>
            <a:r>
              <a:rPr lang="en" sz="1900">
                <a:solidFill>
                  <a:srgbClr val="000000"/>
                </a:solidFill>
                <a:latin typeface="Lato"/>
                <a:ea typeface="Lato"/>
                <a:cs typeface="Lato"/>
                <a:sym typeface="Lato"/>
              </a:rPr>
              <a:t>Establing a consistent connection</a:t>
            </a:r>
            <a:endParaRPr sz="1900">
              <a:solidFill>
                <a:srgbClr val="000000"/>
              </a:solidFill>
              <a:latin typeface="Lato"/>
              <a:ea typeface="Lato"/>
              <a:cs typeface="Lato"/>
              <a:sym typeface="Lato"/>
            </a:endParaRPr>
          </a:p>
          <a:p>
            <a:pPr indent="-349250" lvl="1" marL="914400" rtl="0" algn="l">
              <a:lnSpc>
                <a:spcPct val="100000"/>
              </a:lnSpc>
              <a:spcBef>
                <a:spcPts val="0"/>
              </a:spcBef>
              <a:spcAft>
                <a:spcPts val="0"/>
              </a:spcAft>
              <a:buClr>
                <a:srgbClr val="000000"/>
              </a:buClr>
              <a:buSzPts val="1900"/>
              <a:buFont typeface="Lato"/>
              <a:buChar char="○"/>
            </a:pPr>
            <a:r>
              <a:rPr lang="en" sz="1900">
                <a:solidFill>
                  <a:srgbClr val="000000"/>
                </a:solidFill>
                <a:latin typeface="Lato"/>
                <a:ea typeface="Lato"/>
                <a:cs typeface="Lato"/>
                <a:sym typeface="Lato"/>
              </a:rPr>
              <a:t>Accurate and smooth depiction of data </a:t>
            </a:r>
            <a:endParaRPr sz="1900">
              <a:solidFill>
                <a:srgbClr val="000000"/>
              </a:solidFill>
              <a:latin typeface="Lato"/>
              <a:ea typeface="Lato"/>
              <a:cs typeface="Lato"/>
              <a:sym typeface="Lato"/>
            </a:endParaRPr>
          </a:p>
          <a:p>
            <a:pPr indent="0" lvl="0" marL="0" rtl="0" algn="l">
              <a:lnSpc>
                <a:spcPct val="100000"/>
              </a:lnSpc>
              <a:spcBef>
                <a:spcPts val="0"/>
              </a:spcBef>
              <a:spcAft>
                <a:spcPts val="0"/>
              </a:spcAft>
              <a:buNone/>
            </a:pPr>
            <a:r>
              <a:t/>
            </a:r>
            <a:endParaRPr sz="1900">
              <a:solidFill>
                <a:srgbClr val="000000"/>
              </a:solidFill>
              <a:latin typeface="Lato"/>
              <a:ea typeface="Lato"/>
              <a:cs typeface="Lato"/>
              <a:sym typeface="Lato"/>
            </a:endParaRPr>
          </a:p>
          <a:p>
            <a:pPr indent="-349250" lvl="0" marL="457200" rtl="0" algn="l">
              <a:lnSpc>
                <a:spcPct val="100000"/>
              </a:lnSpc>
              <a:spcBef>
                <a:spcPts val="0"/>
              </a:spcBef>
              <a:spcAft>
                <a:spcPts val="0"/>
              </a:spcAft>
              <a:buClr>
                <a:schemeClr val="accent4"/>
              </a:buClr>
              <a:buSzPts val="1900"/>
              <a:buFont typeface="Lato"/>
              <a:buChar char="●"/>
            </a:pPr>
            <a:r>
              <a:rPr lang="en" sz="1900">
                <a:solidFill>
                  <a:srgbClr val="000000"/>
                </a:solidFill>
                <a:latin typeface="Lato"/>
                <a:ea typeface="Lato"/>
                <a:cs typeface="Lato"/>
                <a:sym typeface="Lato"/>
              </a:rPr>
              <a:t>User Functionality</a:t>
            </a:r>
            <a:endParaRPr sz="1900">
              <a:solidFill>
                <a:srgbClr val="000000"/>
              </a:solidFill>
              <a:latin typeface="Lato"/>
              <a:ea typeface="Lato"/>
              <a:cs typeface="Lato"/>
              <a:sym typeface="Lato"/>
            </a:endParaRPr>
          </a:p>
          <a:p>
            <a:pPr indent="-349250" lvl="1" marL="914400" rtl="0" algn="l">
              <a:spcBef>
                <a:spcPts val="0"/>
              </a:spcBef>
              <a:spcAft>
                <a:spcPts val="0"/>
              </a:spcAft>
              <a:buClr>
                <a:srgbClr val="000000"/>
              </a:buClr>
              <a:buSzPts val="1900"/>
              <a:buFont typeface="Lato"/>
              <a:buChar char="○"/>
            </a:pPr>
            <a:r>
              <a:rPr lang="en" sz="1900">
                <a:solidFill>
                  <a:srgbClr val="000000"/>
                </a:solidFill>
                <a:latin typeface="Lato"/>
                <a:ea typeface="Lato"/>
                <a:cs typeface="Lato"/>
                <a:sym typeface="Lato"/>
              </a:rPr>
              <a:t>Readability - size of text, charts, tables, buttons, etc.  </a:t>
            </a:r>
            <a:endParaRPr sz="1900">
              <a:solidFill>
                <a:srgbClr val="000000"/>
              </a:solidFill>
              <a:latin typeface="Lato"/>
              <a:ea typeface="Lato"/>
              <a:cs typeface="Lato"/>
              <a:sym typeface="Lato"/>
            </a:endParaRPr>
          </a:p>
          <a:p>
            <a:pPr indent="0" lvl="0" marL="457200" rtl="0" algn="l">
              <a:spcBef>
                <a:spcPts val="1200"/>
              </a:spcBef>
              <a:spcAft>
                <a:spcPts val="1200"/>
              </a:spcAft>
              <a:buNone/>
            </a:pPr>
            <a:r>
              <a:t/>
            </a:r>
            <a:endParaRPr sz="1100">
              <a:solidFill>
                <a:srgbClr val="000000"/>
              </a:solidFill>
              <a:latin typeface="Lato"/>
              <a:ea typeface="Lato"/>
              <a:cs typeface="Lato"/>
              <a:sym typeface="Lato"/>
            </a:endParaRPr>
          </a:p>
        </p:txBody>
      </p:sp>
      <p:pic>
        <p:nvPicPr>
          <p:cNvPr id="154" name="Google Shape;154;p27"/>
          <p:cNvPicPr preferRelativeResize="0"/>
          <p:nvPr/>
        </p:nvPicPr>
        <p:blipFill>
          <a:blip r:embed="rId3">
            <a:alphaModFix/>
          </a:blip>
          <a:stretch>
            <a:fillRect/>
          </a:stretch>
        </p:blipFill>
        <p:spPr>
          <a:xfrm>
            <a:off x="4795625" y="1408275"/>
            <a:ext cx="3538025" cy="35380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8" name="Shape 158"/>
        <p:cNvGrpSpPr/>
        <p:nvPr/>
      </p:nvGrpSpPr>
      <p:grpSpPr>
        <a:xfrm>
          <a:off x="0" y="0"/>
          <a:ext cx="0" cy="0"/>
          <a:chOff x="0" y="0"/>
          <a:chExt cx="0" cy="0"/>
        </a:xfrm>
      </p:grpSpPr>
      <p:sp>
        <p:nvSpPr>
          <p:cNvPr id="159" name="Google Shape;159;p28"/>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latin typeface="Droid Sans"/>
                <a:ea typeface="Droid Sans"/>
                <a:cs typeface="Droid Sans"/>
                <a:sym typeface="Droid Sans"/>
              </a:rPr>
              <a:t>Business</a:t>
            </a:r>
            <a:endParaRPr>
              <a:latin typeface="Droid Sans"/>
              <a:ea typeface="Droid Sans"/>
              <a:cs typeface="Droid Sans"/>
              <a:sym typeface="Droid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3" name="Shape 163"/>
        <p:cNvGrpSpPr/>
        <p:nvPr/>
      </p:nvGrpSpPr>
      <p:grpSpPr>
        <a:xfrm>
          <a:off x="0" y="0"/>
          <a:ext cx="0" cy="0"/>
          <a:chOff x="0" y="0"/>
          <a:chExt cx="0" cy="0"/>
        </a:xfrm>
      </p:grpSpPr>
      <p:sp>
        <p:nvSpPr>
          <p:cNvPr id="164" name="Google Shape;164;p29"/>
          <p:cNvSpPr txBox="1"/>
          <p:nvPr>
            <p:ph type="title"/>
          </p:nvPr>
        </p:nvSpPr>
        <p:spPr>
          <a:xfrm>
            <a:off x="552025" y="1280675"/>
            <a:ext cx="8520600" cy="572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2000">
                <a:latin typeface="Lato"/>
                <a:ea typeface="Lato"/>
                <a:cs typeface="Lato"/>
                <a:sym typeface="Lato"/>
              </a:rPr>
              <a:t>Validation</a:t>
            </a:r>
            <a:endParaRPr sz="2000">
              <a:latin typeface="Lato"/>
              <a:ea typeface="Lato"/>
              <a:cs typeface="Lato"/>
              <a:sym typeface="Lato"/>
            </a:endParaRPr>
          </a:p>
        </p:txBody>
      </p:sp>
      <p:sp>
        <p:nvSpPr>
          <p:cNvPr id="165" name="Google Shape;165;p29"/>
          <p:cNvSpPr txBox="1"/>
          <p:nvPr>
            <p:ph idx="1" type="body"/>
          </p:nvPr>
        </p:nvSpPr>
        <p:spPr>
          <a:xfrm>
            <a:off x="498600" y="1789275"/>
            <a:ext cx="4073400" cy="21858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Clr>
                <a:schemeClr val="accent4"/>
              </a:buClr>
              <a:buSzPts val="1100"/>
              <a:buFont typeface="Lato"/>
              <a:buChar char="●"/>
            </a:pPr>
            <a:r>
              <a:rPr lang="en" sz="1100">
                <a:solidFill>
                  <a:srgbClr val="000000"/>
                </a:solidFill>
                <a:latin typeface="Lato"/>
                <a:ea typeface="Lato"/>
                <a:cs typeface="Lato"/>
                <a:sym typeface="Lato"/>
              </a:rPr>
              <a:t>Accurate system analysis</a:t>
            </a:r>
            <a:endParaRPr sz="1100">
              <a:solidFill>
                <a:srgbClr val="000000"/>
              </a:solidFill>
              <a:latin typeface="Lato"/>
              <a:ea typeface="Lato"/>
              <a:cs typeface="Lato"/>
              <a:sym typeface="Lato"/>
            </a:endParaRPr>
          </a:p>
          <a:p>
            <a:pPr indent="-298450" lvl="0" marL="457200" rtl="0" algn="l">
              <a:spcBef>
                <a:spcPts val="0"/>
              </a:spcBef>
              <a:spcAft>
                <a:spcPts val="0"/>
              </a:spcAft>
              <a:buClr>
                <a:schemeClr val="accent4"/>
              </a:buClr>
              <a:buSzPts val="1100"/>
              <a:buFont typeface="Lato"/>
              <a:buChar char="●"/>
            </a:pPr>
            <a:r>
              <a:rPr lang="en" sz="1100">
                <a:solidFill>
                  <a:srgbClr val="000000"/>
                </a:solidFill>
                <a:latin typeface="Lato"/>
                <a:ea typeface="Lato"/>
                <a:cs typeface="Lato"/>
                <a:sym typeface="Lato"/>
              </a:rPr>
              <a:t>A few questions to ask ourselves:</a:t>
            </a:r>
            <a:endParaRPr sz="1100">
              <a:solidFill>
                <a:srgbClr val="000000"/>
              </a:solidFill>
              <a:latin typeface="Lato"/>
              <a:ea typeface="Lato"/>
              <a:cs typeface="Lato"/>
              <a:sym typeface="Lato"/>
            </a:endParaRPr>
          </a:p>
          <a:p>
            <a:pPr indent="-298450" lvl="1" marL="914400" rtl="0" algn="l">
              <a:spcBef>
                <a:spcPts val="0"/>
              </a:spcBef>
              <a:spcAft>
                <a:spcPts val="0"/>
              </a:spcAft>
              <a:buClr>
                <a:srgbClr val="000000"/>
              </a:buClr>
              <a:buSzPts val="1100"/>
              <a:buFont typeface="Lato"/>
              <a:buChar char="○"/>
            </a:pPr>
            <a:r>
              <a:rPr lang="en" sz="1100">
                <a:solidFill>
                  <a:srgbClr val="000000"/>
                </a:solidFill>
                <a:latin typeface="Lato"/>
                <a:ea typeface="Lato"/>
                <a:cs typeface="Lato"/>
                <a:sym typeface="Lato"/>
              </a:rPr>
              <a:t>Does the system see the ball?</a:t>
            </a:r>
            <a:endParaRPr sz="1100">
              <a:solidFill>
                <a:srgbClr val="000000"/>
              </a:solidFill>
              <a:latin typeface="Lato"/>
              <a:ea typeface="Lato"/>
              <a:cs typeface="Lato"/>
              <a:sym typeface="Lato"/>
            </a:endParaRPr>
          </a:p>
          <a:p>
            <a:pPr indent="-298450" lvl="1" marL="914400" rtl="0" algn="l">
              <a:spcBef>
                <a:spcPts val="0"/>
              </a:spcBef>
              <a:spcAft>
                <a:spcPts val="0"/>
              </a:spcAft>
              <a:buClr>
                <a:srgbClr val="000000"/>
              </a:buClr>
              <a:buSzPts val="1100"/>
              <a:buFont typeface="Lato"/>
              <a:buChar char="○"/>
            </a:pPr>
            <a:r>
              <a:rPr lang="en" sz="1100">
                <a:solidFill>
                  <a:srgbClr val="000000"/>
                </a:solidFill>
                <a:latin typeface="Lato"/>
                <a:ea typeface="Lato"/>
                <a:cs typeface="Lato"/>
                <a:sym typeface="Lato"/>
              </a:rPr>
              <a:t>Where is the ball now?</a:t>
            </a:r>
            <a:endParaRPr sz="1100">
              <a:solidFill>
                <a:srgbClr val="000000"/>
              </a:solidFill>
              <a:latin typeface="Lato"/>
              <a:ea typeface="Lato"/>
              <a:cs typeface="Lato"/>
              <a:sym typeface="Lato"/>
            </a:endParaRPr>
          </a:p>
          <a:p>
            <a:pPr indent="-298450" lvl="1" marL="914400" rtl="0" algn="l">
              <a:spcBef>
                <a:spcPts val="0"/>
              </a:spcBef>
              <a:spcAft>
                <a:spcPts val="0"/>
              </a:spcAft>
              <a:buClr>
                <a:srgbClr val="000000"/>
              </a:buClr>
              <a:buSzPts val="1100"/>
              <a:buFont typeface="Lato"/>
              <a:buChar char="○"/>
            </a:pPr>
            <a:r>
              <a:rPr lang="en" sz="1100">
                <a:solidFill>
                  <a:srgbClr val="000000"/>
                </a:solidFill>
                <a:latin typeface="Lato"/>
                <a:ea typeface="Lato"/>
                <a:cs typeface="Lato"/>
                <a:sym typeface="Lato"/>
              </a:rPr>
              <a:t>Is the ball even on the court?</a:t>
            </a:r>
            <a:endParaRPr sz="1100">
              <a:solidFill>
                <a:srgbClr val="000000"/>
              </a:solidFill>
              <a:latin typeface="Lato"/>
              <a:ea typeface="Lato"/>
              <a:cs typeface="Lato"/>
              <a:sym typeface="Lato"/>
            </a:endParaRPr>
          </a:p>
          <a:p>
            <a:pPr indent="-298450" lvl="0" marL="457200" rtl="0" algn="l">
              <a:spcBef>
                <a:spcPts val="0"/>
              </a:spcBef>
              <a:spcAft>
                <a:spcPts val="0"/>
              </a:spcAft>
              <a:buClr>
                <a:schemeClr val="accent4"/>
              </a:buClr>
              <a:buSzPts val="1100"/>
              <a:buFont typeface="Lato"/>
              <a:buChar char="●"/>
            </a:pPr>
            <a:r>
              <a:rPr lang="en" sz="1100">
                <a:solidFill>
                  <a:srgbClr val="000000"/>
                </a:solidFill>
                <a:latin typeface="Lato"/>
                <a:ea typeface="Lato"/>
                <a:cs typeface="Lato"/>
                <a:sym typeface="Lato"/>
              </a:rPr>
              <a:t>Ball </a:t>
            </a:r>
            <a:r>
              <a:rPr lang="en" sz="1100">
                <a:solidFill>
                  <a:srgbClr val="000000"/>
                </a:solidFill>
                <a:latin typeface="Lato"/>
                <a:ea typeface="Lato"/>
                <a:cs typeface="Lato"/>
                <a:sym typeface="Lato"/>
              </a:rPr>
              <a:t>location</a:t>
            </a:r>
            <a:r>
              <a:rPr lang="en" sz="1100">
                <a:solidFill>
                  <a:srgbClr val="000000"/>
                </a:solidFill>
                <a:latin typeface="Lato"/>
                <a:ea typeface="Lato"/>
                <a:cs typeface="Lato"/>
                <a:sym typeface="Lato"/>
              </a:rPr>
              <a:t> on GUI</a:t>
            </a:r>
            <a:endParaRPr sz="1100">
              <a:solidFill>
                <a:srgbClr val="000000"/>
              </a:solidFill>
              <a:latin typeface="Lato"/>
              <a:ea typeface="Lato"/>
              <a:cs typeface="Lato"/>
              <a:sym typeface="Lato"/>
            </a:endParaRPr>
          </a:p>
        </p:txBody>
      </p:sp>
      <p:pic>
        <p:nvPicPr>
          <p:cNvPr id="166" name="Google Shape;166;p29"/>
          <p:cNvPicPr preferRelativeResize="0"/>
          <p:nvPr/>
        </p:nvPicPr>
        <p:blipFill>
          <a:blip r:embed="rId3">
            <a:alphaModFix/>
          </a:blip>
          <a:stretch>
            <a:fillRect/>
          </a:stretch>
        </p:blipFill>
        <p:spPr>
          <a:xfrm>
            <a:off x="5093825" y="1370175"/>
            <a:ext cx="3024023" cy="3024023"/>
          </a:xfrm>
          <a:prstGeom prst="rect">
            <a:avLst/>
          </a:prstGeom>
          <a:noFill/>
          <a:ln>
            <a:noFill/>
          </a:ln>
        </p:spPr>
      </p:pic>
      <p:sp>
        <p:nvSpPr>
          <p:cNvPr id="167" name="Google Shape;167;p29"/>
          <p:cNvSpPr/>
          <p:nvPr/>
        </p:nvSpPr>
        <p:spPr>
          <a:xfrm>
            <a:off x="0" y="-250"/>
            <a:ext cx="9144000" cy="4149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1" name="Shape 171"/>
        <p:cNvGrpSpPr/>
        <p:nvPr/>
      </p:nvGrpSpPr>
      <p:grpSpPr>
        <a:xfrm>
          <a:off x="0" y="0"/>
          <a:ext cx="0" cy="0"/>
          <a:chOff x="0" y="0"/>
          <a:chExt cx="0" cy="0"/>
        </a:xfrm>
      </p:grpSpPr>
      <p:sp>
        <p:nvSpPr>
          <p:cNvPr id="172" name="Google Shape;172;p30"/>
          <p:cNvSpPr txBox="1"/>
          <p:nvPr>
            <p:ph type="title"/>
          </p:nvPr>
        </p:nvSpPr>
        <p:spPr>
          <a:xfrm>
            <a:off x="311713" y="69607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00">
                <a:latin typeface="Lato"/>
                <a:ea typeface="Lato"/>
                <a:cs typeface="Lato"/>
                <a:sym typeface="Lato"/>
              </a:rPr>
              <a:t>Project Management</a:t>
            </a:r>
            <a:endParaRPr sz="2000">
              <a:latin typeface="Lato"/>
              <a:ea typeface="Lato"/>
              <a:cs typeface="Lato"/>
              <a:sym typeface="Lato"/>
            </a:endParaRPr>
          </a:p>
        </p:txBody>
      </p:sp>
      <p:sp>
        <p:nvSpPr>
          <p:cNvPr id="173" name="Google Shape;173;p30"/>
          <p:cNvSpPr txBox="1"/>
          <p:nvPr>
            <p:ph idx="1" type="body"/>
          </p:nvPr>
        </p:nvSpPr>
        <p:spPr>
          <a:xfrm>
            <a:off x="311725" y="1387500"/>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100">
                <a:solidFill>
                  <a:schemeClr val="dk1"/>
                </a:solidFill>
                <a:latin typeface="Lato"/>
                <a:ea typeface="Lato"/>
                <a:cs typeface="Lato"/>
                <a:sym typeface="Lato"/>
              </a:rPr>
              <a:t>Hours Submission</a:t>
            </a:r>
            <a:endParaRPr sz="1100">
              <a:solidFill>
                <a:schemeClr val="dk1"/>
              </a:solidFill>
              <a:latin typeface="Lato"/>
              <a:ea typeface="Lato"/>
              <a:cs typeface="Lato"/>
              <a:sym typeface="Lato"/>
            </a:endParaRPr>
          </a:p>
          <a:p>
            <a:pPr indent="-298450" lvl="0" marL="457200" rtl="0" algn="l">
              <a:spcBef>
                <a:spcPts val="1200"/>
              </a:spcBef>
              <a:spcAft>
                <a:spcPts val="0"/>
              </a:spcAft>
              <a:buClr>
                <a:schemeClr val="accent4"/>
              </a:buClr>
              <a:buSzPts val="1100"/>
              <a:buFont typeface="Lato"/>
              <a:buChar char="●"/>
            </a:pPr>
            <a:r>
              <a:rPr lang="en" sz="1100">
                <a:solidFill>
                  <a:schemeClr val="dk1"/>
                </a:solidFill>
                <a:latin typeface="Lato"/>
                <a:ea typeface="Lato"/>
                <a:cs typeface="Lato"/>
                <a:sym typeface="Lato"/>
              </a:rPr>
              <a:t>Spreadsheet for team tracking</a:t>
            </a:r>
            <a:endParaRPr sz="1100">
              <a:solidFill>
                <a:schemeClr val="dk1"/>
              </a:solidFill>
              <a:latin typeface="Lato"/>
              <a:ea typeface="Lato"/>
              <a:cs typeface="Lato"/>
              <a:sym typeface="Lato"/>
            </a:endParaRPr>
          </a:p>
          <a:p>
            <a:pPr indent="-298450" lvl="0" marL="457200" rtl="0" algn="l">
              <a:spcBef>
                <a:spcPts val="0"/>
              </a:spcBef>
              <a:spcAft>
                <a:spcPts val="0"/>
              </a:spcAft>
              <a:buClr>
                <a:schemeClr val="accent4"/>
              </a:buClr>
              <a:buSzPts val="1100"/>
              <a:buFont typeface="Lato"/>
              <a:buChar char="●"/>
            </a:pPr>
            <a:r>
              <a:rPr lang="en" sz="1100">
                <a:solidFill>
                  <a:schemeClr val="dk1"/>
                </a:solidFill>
                <a:latin typeface="Lato"/>
                <a:ea typeface="Lato"/>
                <a:cs typeface="Lato"/>
                <a:sym typeface="Lato"/>
              </a:rPr>
              <a:t>Accessible and editable by anyone in the group</a:t>
            </a:r>
            <a:endParaRPr sz="1100">
              <a:solidFill>
                <a:schemeClr val="dk1"/>
              </a:solidFill>
              <a:latin typeface="Lato"/>
              <a:ea typeface="Lato"/>
              <a:cs typeface="Lato"/>
              <a:sym typeface="Lato"/>
            </a:endParaRPr>
          </a:p>
          <a:p>
            <a:pPr indent="-298450" lvl="0" marL="457200" rtl="0" algn="l">
              <a:spcBef>
                <a:spcPts val="0"/>
              </a:spcBef>
              <a:spcAft>
                <a:spcPts val="0"/>
              </a:spcAft>
              <a:buClr>
                <a:schemeClr val="accent4"/>
              </a:buClr>
              <a:buSzPts val="1100"/>
              <a:buFont typeface="Lato"/>
              <a:buChar char="●"/>
            </a:pPr>
            <a:r>
              <a:rPr lang="en" sz="1100">
                <a:solidFill>
                  <a:schemeClr val="dk1"/>
                </a:solidFill>
                <a:latin typeface="Lato"/>
                <a:ea typeface="Lato"/>
                <a:cs typeface="Lato"/>
                <a:sym typeface="Lato"/>
              </a:rPr>
              <a:t>Official w</a:t>
            </a:r>
            <a:r>
              <a:rPr lang="en" sz="1100">
                <a:solidFill>
                  <a:schemeClr val="dk1"/>
                </a:solidFill>
                <a:latin typeface="Lato"/>
                <a:ea typeface="Lato"/>
                <a:cs typeface="Lato"/>
                <a:sym typeface="Lato"/>
              </a:rPr>
              <a:t>eekly hour submissions to Dr. Kaputa</a:t>
            </a:r>
            <a:endParaRPr sz="1100">
              <a:solidFill>
                <a:schemeClr val="dk1"/>
              </a:solidFill>
              <a:latin typeface="Lato"/>
              <a:ea typeface="Lato"/>
              <a:cs typeface="Lato"/>
              <a:sym typeface="Lato"/>
            </a:endParaRPr>
          </a:p>
        </p:txBody>
      </p:sp>
      <p:sp>
        <p:nvSpPr>
          <p:cNvPr id="174" name="Google Shape;174;p30"/>
          <p:cNvSpPr txBox="1"/>
          <p:nvPr>
            <p:ph idx="2" type="body"/>
          </p:nvPr>
        </p:nvSpPr>
        <p:spPr>
          <a:xfrm>
            <a:off x="4832425" y="1387500"/>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Lato"/>
                <a:ea typeface="Lato"/>
                <a:cs typeface="Lato"/>
                <a:sym typeface="Lato"/>
              </a:rPr>
              <a:t>Weekly Meeting</a:t>
            </a:r>
            <a:endParaRPr sz="1100">
              <a:solidFill>
                <a:schemeClr val="dk1"/>
              </a:solidFill>
              <a:latin typeface="Lato"/>
              <a:ea typeface="Lato"/>
              <a:cs typeface="Lato"/>
              <a:sym typeface="Lato"/>
            </a:endParaRPr>
          </a:p>
          <a:p>
            <a:pPr indent="-298450" lvl="0" marL="457200" rtl="0" algn="l">
              <a:spcBef>
                <a:spcPts val="1200"/>
              </a:spcBef>
              <a:spcAft>
                <a:spcPts val="0"/>
              </a:spcAft>
              <a:buClr>
                <a:schemeClr val="accent4"/>
              </a:buClr>
              <a:buSzPts val="1100"/>
              <a:buFont typeface="Lato"/>
              <a:buChar char="●"/>
            </a:pPr>
            <a:r>
              <a:rPr lang="en" sz="1100">
                <a:solidFill>
                  <a:schemeClr val="dk1"/>
                </a:solidFill>
                <a:latin typeface="Lato"/>
                <a:ea typeface="Lato"/>
                <a:cs typeface="Lato"/>
                <a:sym typeface="Lato"/>
              </a:rPr>
              <a:t>Aim for once a week</a:t>
            </a:r>
            <a:endParaRPr sz="1100">
              <a:solidFill>
                <a:schemeClr val="dk1"/>
              </a:solidFill>
              <a:latin typeface="Lato"/>
              <a:ea typeface="Lato"/>
              <a:cs typeface="Lato"/>
              <a:sym typeface="Lato"/>
            </a:endParaRPr>
          </a:p>
          <a:p>
            <a:pPr indent="-298450" lvl="0" marL="457200" rtl="0" algn="l">
              <a:spcBef>
                <a:spcPts val="0"/>
              </a:spcBef>
              <a:spcAft>
                <a:spcPts val="0"/>
              </a:spcAft>
              <a:buClr>
                <a:schemeClr val="accent4"/>
              </a:buClr>
              <a:buSzPts val="1100"/>
              <a:buFont typeface="Lato"/>
              <a:buChar char="●"/>
            </a:pPr>
            <a:r>
              <a:rPr lang="en" sz="1100">
                <a:solidFill>
                  <a:schemeClr val="dk1"/>
                </a:solidFill>
                <a:latin typeface="Lato"/>
                <a:ea typeface="Lato"/>
                <a:cs typeface="Lato"/>
                <a:sym typeface="Lato"/>
              </a:rPr>
              <a:t>Brainstorming</a:t>
            </a:r>
            <a:endParaRPr sz="1100">
              <a:solidFill>
                <a:schemeClr val="dk1"/>
              </a:solidFill>
              <a:latin typeface="Lato"/>
              <a:ea typeface="Lato"/>
              <a:cs typeface="Lato"/>
              <a:sym typeface="Lato"/>
            </a:endParaRPr>
          </a:p>
          <a:p>
            <a:pPr indent="-298450" lvl="0" marL="457200" rtl="0" algn="l">
              <a:spcBef>
                <a:spcPts val="0"/>
              </a:spcBef>
              <a:spcAft>
                <a:spcPts val="0"/>
              </a:spcAft>
              <a:buClr>
                <a:schemeClr val="accent4"/>
              </a:buClr>
              <a:buSzPts val="1100"/>
              <a:buFont typeface="Lato"/>
              <a:buChar char="●"/>
            </a:pPr>
            <a:r>
              <a:rPr lang="en" sz="1100">
                <a:solidFill>
                  <a:schemeClr val="dk1"/>
                </a:solidFill>
                <a:latin typeface="Lato"/>
                <a:ea typeface="Lato"/>
                <a:cs typeface="Lato"/>
                <a:sym typeface="Lato"/>
              </a:rPr>
              <a:t>Looking ahead, check-in</a:t>
            </a:r>
            <a:endParaRPr sz="1100">
              <a:solidFill>
                <a:schemeClr val="dk1"/>
              </a:solidFill>
              <a:latin typeface="Lato"/>
              <a:ea typeface="Lato"/>
              <a:cs typeface="Lato"/>
              <a:sym typeface="Lato"/>
            </a:endParaRPr>
          </a:p>
          <a:p>
            <a:pPr indent="-298450" lvl="0" marL="457200" rtl="0" algn="l">
              <a:spcBef>
                <a:spcPts val="0"/>
              </a:spcBef>
              <a:spcAft>
                <a:spcPts val="0"/>
              </a:spcAft>
              <a:buClr>
                <a:schemeClr val="accent4"/>
              </a:buClr>
              <a:buSzPts val="1100"/>
              <a:buFont typeface="Lato"/>
              <a:buChar char="●"/>
            </a:pPr>
            <a:r>
              <a:rPr lang="en" sz="1100">
                <a:solidFill>
                  <a:schemeClr val="dk1"/>
                </a:solidFill>
                <a:latin typeface="Lato"/>
                <a:ea typeface="Lato"/>
                <a:cs typeface="Lato"/>
                <a:sym typeface="Lato"/>
              </a:rPr>
              <a:t>Weekly goals</a:t>
            </a:r>
            <a:endParaRPr sz="1100">
              <a:solidFill>
                <a:schemeClr val="dk1"/>
              </a:solidFill>
              <a:latin typeface="Lato"/>
              <a:ea typeface="Lato"/>
              <a:cs typeface="Lato"/>
              <a:sym typeface="Lato"/>
            </a:endParaRPr>
          </a:p>
          <a:p>
            <a:pPr indent="0" lvl="0" marL="0" rtl="0" algn="l">
              <a:spcBef>
                <a:spcPts val="1200"/>
              </a:spcBef>
              <a:spcAft>
                <a:spcPts val="1200"/>
              </a:spcAft>
              <a:buClr>
                <a:schemeClr val="dk1"/>
              </a:buClr>
              <a:buSzPts val="1100"/>
              <a:buFont typeface="Arial"/>
              <a:buNone/>
            </a:pPr>
            <a:r>
              <a:t/>
            </a:r>
            <a:endParaRPr sz="1100">
              <a:solidFill>
                <a:schemeClr val="dk1"/>
              </a:solidFill>
              <a:latin typeface="Lato"/>
              <a:ea typeface="Lato"/>
              <a:cs typeface="Lato"/>
              <a:sym typeface="Lato"/>
            </a:endParaRPr>
          </a:p>
        </p:txBody>
      </p:sp>
      <p:pic>
        <p:nvPicPr>
          <p:cNvPr id="175" name="Google Shape;175;p30"/>
          <p:cNvPicPr preferRelativeResize="0"/>
          <p:nvPr/>
        </p:nvPicPr>
        <p:blipFill>
          <a:blip r:embed="rId3">
            <a:alphaModFix/>
          </a:blip>
          <a:stretch>
            <a:fillRect/>
          </a:stretch>
        </p:blipFill>
        <p:spPr>
          <a:xfrm>
            <a:off x="2807726" y="2796202"/>
            <a:ext cx="3528576" cy="1982451"/>
          </a:xfrm>
          <a:prstGeom prst="rect">
            <a:avLst/>
          </a:prstGeom>
          <a:noFill/>
          <a:ln cap="flat" cmpd="sng" w="9525">
            <a:solidFill>
              <a:srgbClr val="000000"/>
            </a:solidFill>
            <a:prstDash val="solid"/>
            <a:round/>
            <a:headEnd len="sm" w="sm" type="none"/>
            <a:tailEnd len="sm" w="sm" type="none"/>
          </a:ln>
        </p:spPr>
      </p:pic>
      <p:sp>
        <p:nvSpPr>
          <p:cNvPr id="176" name="Google Shape;176;p30"/>
          <p:cNvSpPr/>
          <p:nvPr/>
        </p:nvSpPr>
        <p:spPr>
          <a:xfrm>
            <a:off x="0" y="-250"/>
            <a:ext cx="9144000" cy="4149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5"/>
        </a:solidFill>
      </p:bgPr>
    </p:bg>
    <p:spTree>
      <p:nvGrpSpPr>
        <p:cNvPr id="180" name="Shape 180"/>
        <p:cNvGrpSpPr/>
        <p:nvPr/>
      </p:nvGrpSpPr>
      <p:grpSpPr>
        <a:xfrm>
          <a:off x="0" y="0"/>
          <a:ext cx="0" cy="0"/>
          <a:chOff x="0" y="0"/>
          <a:chExt cx="0" cy="0"/>
        </a:xfrm>
      </p:grpSpPr>
      <p:sp>
        <p:nvSpPr>
          <p:cNvPr id="181" name="Google Shape;181;p31"/>
          <p:cNvSpPr txBox="1"/>
          <p:nvPr/>
        </p:nvSpPr>
        <p:spPr>
          <a:xfrm>
            <a:off x="6390400" y="811575"/>
            <a:ext cx="3095700" cy="36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82" name="Google Shape;182;p31"/>
          <p:cNvSpPr/>
          <p:nvPr/>
        </p:nvSpPr>
        <p:spPr>
          <a:xfrm>
            <a:off x="0" y="-250"/>
            <a:ext cx="9144000" cy="4149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31"/>
          <p:cNvSpPr txBox="1"/>
          <p:nvPr>
            <p:ph idx="4294967295" type="title"/>
          </p:nvPr>
        </p:nvSpPr>
        <p:spPr>
          <a:xfrm>
            <a:off x="534100" y="81157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00">
                <a:solidFill>
                  <a:schemeClr val="lt1"/>
                </a:solidFill>
                <a:latin typeface="Lato"/>
                <a:ea typeface="Lato"/>
                <a:cs typeface="Lato"/>
                <a:sym typeface="Lato"/>
              </a:rPr>
              <a:t>Cost Breakdown</a:t>
            </a:r>
            <a:endParaRPr sz="2000">
              <a:solidFill>
                <a:schemeClr val="lt1"/>
              </a:solidFill>
              <a:latin typeface="Lato"/>
              <a:ea typeface="Lato"/>
              <a:cs typeface="Lato"/>
              <a:sym typeface="Lato"/>
            </a:endParaRPr>
          </a:p>
        </p:txBody>
      </p:sp>
      <p:pic>
        <p:nvPicPr>
          <p:cNvPr id="184" name="Google Shape;184;p31"/>
          <p:cNvPicPr preferRelativeResize="0"/>
          <p:nvPr/>
        </p:nvPicPr>
        <p:blipFill>
          <a:blip r:embed="rId3">
            <a:alphaModFix/>
          </a:blip>
          <a:stretch>
            <a:fillRect/>
          </a:stretch>
        </p:blipFill>
        <p:spPr>
          <a:xfrm>
            <a:off x="208575" y="1376800"/>
            <a:ext cx="4219676" cy="3044525"/>
          </a:xfrm>
          <a:prstGeom prst="rect">
            <a:avLst/>
          </a:prstGeom>
          <a:noFill/>
          <a:ln>
            <a:noFill/>
          </a:ln>
        </p:spPr>
      </p:pic>
      <p:pic>
        <p:nvPicPr>
          <p:cNvPr id="185" name="Google Shape;185;p31"/>
          <p:cNvPicPr preferRelativeResize="0"/>
          <p:nvPr/>
        </p:nvPicPr>
        <p:blipFill>
          <a:blip r:embed="rId4">
            <a:alphaModFix/>
          </a:blip>
          <a:stretch>
            <a:fillRect/>
          </a:stretch>
        </p:blipFill>
        <p:spPr>
          <a:xfrm>
            <a:off x="4646025" y="1349300"/>
            <a:ext cx="4265350" cy="30995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9" name="Shape 189"/>
        <p:cNvGrpSpPr/>
        <p:nvPr/>
      </p:nvGrpSpPr>
      <p:grpSpPr>
        <a:xfrm>
          <a:off x="0" y="0"/>
          <a:ext cx="0" cy="0"/>
          <a:chOff x="0" y="0"/>
          <a:chExt cx="0" cy="0"/>
        </a:xfrm>
      </p:grpSpPr>
      <p:sp>
        <p:nvSpPr>
          <p:cNvPr id="190" name="Google Shape;190;p32"/>
          <p:cNvSpPr txBox="1"/>
          <p:nvPr>
            <p:ph type="title"/>
          </p:nvPr>
        </p:nvSpPr>
        <p:spPr>
          <a:xfrm>
            <a:off x="471950" y="6266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00">
                <a:latin typeface="Lato"/>
                <a:ea typeface="Lato"/>
                <a:cs typeface="Lato"/>
                <a:sym typeface="Lato"/>
              </a:rPr>
              <a:t>Moving Forward</a:t>
            </a:r>
            <a:endParaRPr sz="2000">
              <a:latin typeface="Lato"/>
              <a:ea typeface="Lato"/>
              <a:cs typeface="Lato"/>
              <a:sym typeface="Lato"/>
            </a:endParaRPr>
          </a:p>
        </p:txBody>
      </p:sp>
      <p:sp>
        <p:nvSpPr>
          <p:cNvPr id="191" name="Google Shape;191;p32"/>
          <p:cNvSpPr txBox="1"/>
          <p:nvPr>
            <p:ph idx="1" type="body"/>
          </p:nvPr>
        </p:nvSpPr>
        <p:spPr>
          <a:xfrm>
            <a:off x="738975" y="130202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100">
                <a:solidFill>
                  <a:schemeClr val="dk1"/>
                </a:solidFill>
                <a:latin typeface="Lato"/>
                <a:ea typeface="Lato"/>
                <a:cs typeface="Lato"/>
                <a:sym typeface="Lato"/>
              </a:rPr>
              <a:t>Future CDR</a:t>
            </a:r>
            <a:endParaRPr sz="1100">
              <a:solidFill>
                <a:schemeClr val="dk1"/>
              </a:solidFill>
              <a:latin typeface="Lato"/>
              <a:ea typeface="Lato"/>
              <a:cs typeface="Lato"/>
              <a:sym typeface="Lato"/>
            </a:endParaRPr>
          </a:p>
          <a:p>
            <a:pPr indent="-298450" lvl="0" marL="457200" rtl="0" algn="l">
              <a:spcBef>
                <a:spcPts val="1200"/>
              </a:spcBef>
              <a:spcAft>
                <a:spcPts val="0"/>
              </a:spcAft>
              <a:buClr>
                <a:schemeClr val="accent4"/>
              </a:buClr>
              <a:buSzPts val="1100"/>
              <a:buFont typeface="Lato"/>
              <a:buChar char="●"/>
            </a:pPr>
            <a:r>
              <a:rPr lang="en" sz="1100">
                <a:solidFill>
                  <a:schemeClr val="dk1"/>
                </a:solidFill>
                <a:latin typeface="Lato"/>
                <a:ea typeface="Lato"/>
                <a:cs typeface="Lato"/>
                <a:sym typeface="Lato"/>
              </a:rPr>
              <a:t>Transition planning -&gt; executing</a:t>
            </a:r>
            <a:endParaRPr sz="1100">
              <a:solidFill>
                <a:schemeClr val="dk1"/>
              </a:solidFill>
              <a:latin typeface="Lato"/>
              <a:ea typeface="Lato"/>
              <a:cs typeface="Lato"/>
              <a:sym typeface="Lato"/>
            </a:endParaRPr>
          </a:p>
          <a:p>
            <a:pPr indent="-298450" lvl="0" marL="457200" rtl="0" algn="l">
              <a:spcBef>
                <a:spcPts val="0"/>
              </a:spcBef>
              <a:spcAft>
                <a:spcPts val="0"/>
              </a:spcAft>
              <a:buClr>
                <a:schemeClr val="accent4"/>
              </a:buClr>
              <a:buSzPts val="1100"/>
              <a:buFont typeface="Lato"/>
              <a:buChar char="●"/>
            </a:pPr>
            <a:r>
              <a:rPr lang="en" sz="1100">
                <a:solidFill>
                  <a:schemeClr val="dk1"/>
                </a:solidFill>
                <a:latin typeface="Lato"/>
                <a:ea typeface="Lato"/>
                <a:cs typeface="Lato"/>
                <a:sym typeface="Lato"/>
              </a:rPr>
              <a:t>May 10</a:t>
            </a:r>
            <a:endParaRPr sz="1100">
              <a:solidFill>
                <a:schemeClr val="dk1"/>
              </a:solidFill>
              <a:latin typeface="Lato"/>
              <a:ea typeface="Lato"/>
              <a:cs typeface="Lato"/>
              <a:sym typeface="Lato"/>
            </a:endParaRPr>
          </a:p>
          <a:p>
            <a:pPr indent="0" lvl="0" marL="0" rtl="0" algn="l">
              <a:spcBef>
                <a:spcPts val="1200"/>
              </a:spcBef>
              <a:spcAft>
                <a:spcPts val="1200"/>
              </a:spcAft>
              <a:buNone/>
            </a:pPr>
            <a:r>
              <a:t/>
            </a:r>
            <a:endParaRPr sz="1100">
              <a:solidFill>
                <a:schemeClr val="dk1"/>
              </a:solidFill>
              <a:latin typeface="Lato"/>
              <a:ea typeface="Lato"/>
              <a:cs typeface="Lato"/>
              <a:sym typeface="Lato"/>
            </a:endParaRPr>
          </a:p>
        </p:txBody>
      </p:sp>
      <p:sp>
        <p:nvSpPr>
          <p:cNvPr id="192" name="Google Shape;192;p32"/>
          <p:cNvSpPr txBox="1"/>
          <p:nvPr>
            <p:ph idx="2" type="body"/>
          </p:nvPr>
        </p:nvSpPr>
        <p:spPr>
          <a:xfrm>
            <a:off x="4800350" y="130202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Lato"/>
                <a:ea typeface="Lato"/>
                <a:cs typeface="Lato"/>
                <a:sym typeface="Lato"/>
              </a:rPr>
              <a:t>Estimated Time &amp; Cost</a:t>
            </a:r>
            <a:endParaRPr sz="1100">
              <a:solidFill>
                <a:schemeClr val="dk1"/>
              </a:solidFill>
              <a:latin typeface="Lato"/>
              <a:ea typeface="Lato"/>
              <a:cs typeface="Lato"/>
              <a:sym typeface="Lato"/>
            </a:endParaRPr>
          </a:p>
          <a:p>
            <a:pPr indent="-298450" lvl="0" marL="457200" rtl="0" algn="l">
              <a:spcBef>
                <a:spcPts val="1200"/>
              </a:spcBef>
              <a:spcAft>
                <a:spcPts val="0"/>
              </a:spcAft>
              <a:buClr>
                <a:schemeClr val="accent4"/>
              </a:buClr>
              <a:buSzPts val="1100"/>
              <a:buFont typeface="Lato"/>
              <a:buChar char="●"/>
            </a:pPr>
            <a:r>
              <a:rPr lang="en" sz="1100">
                <a:solidFill>
                  <a:schemeClr val="dk1"/>
                </a:solidFill>
                <a:latin typeface="Lato"/>
                <a:ea typeface="Lato"/>
                <a:cs typeface="Lato"/>
                <a:sym typeface="Lato"/>
              </a:rPr>
              <a:t>We estimate future hours as follows:</a:t>
            </a:r>
            <a:endParaRPr sz="1100">
              <a:solidFill>
                <a:schemeClr val="dk1"/>
              </a:solidFill>
              <a:latin typeface="Lato"/>
              <a:ea typeface="Lato"/>
              <a:cs typeface="Lato"/>
              <a:sym typeface="Lato"/>
            </a:endParaRPr>
          </a:p>
          <a:p>
            <a:pPr indent="-298450" lvl="1" marL="914400" rtl="0" algn="l">
              <a:spcBef>
                <a:spcPts val="0"/>
              </a:spcBef>
              <a:spcAft>
                <a:spcPts val="0"/>
              </a:spcAft>
              <a:buClr>
                <a:schemeClr val="dk1"/>
              </a:buClr>
              <a:buSzPts val="1100"/>
              <a:buFont typeface="Lato"/>
              <a:buChar char="○"/>
            </a:pPr>
            <a:r>
              <a:rPr lang="en" sz="1100">
                <a:solidFill>
                  <a:schemeClr val="dk1"/>
                </a:solidFill>
                <a:latin typeface="Lato"/>
                <a:ea typeface="Lato"/>
                <a:cs typeface="Lato"/>
                <a:sym typeface="Lato"/>
              </a:rPr>
              <a:t>Business - 25</a:t>
            </a:r>
            <a:endParaRPr sz="1100">
              <a:solidFill>
                <a:schemeClr val="dk1"/>
              </a:solidFill>
              <a:latin typeface="Lato"/>
              <a:ea typeface="Lato"/>
              <a:cs typeface="Lato"/>
              <a:sym typeface="Lato"/>
            </a:endParaRPr>
          </a:p>
          <a:p>
            <a:pPr indent="-298450" lvl="1" marL="914400" rtl="0" algn="l">
              <a:spcBef>
                <a:spcPts val="0"/>
              </a:spcBef>
              <a:spcAft>
                <a:spcPts val="0"/>
              </a:spcAft>
              <a:buClr>
                <a:schemeClr val="dk1"/>
              </a:buClr>
              <a:buSzPts val="1100"/>
              <a:buFont typeface="Lato"/>
              <a:buChar char="○"/>
            </a:pPr>
            <a:r>
              <a:rPr lang="en" sz="1100">
                <a:solidFill>
                  <a:schemeClr val="dk1"/>
                </a:solidFill>
                <a:latin typeface="Lato"/>
                <a:ea typeface="Lato"/>
                <a:cs typeface="Lato"/>
                <a:sym typeface="Lato"/>
              </a:rPr>
              <a:t>GUI - 25</a:t>
            </a:r>
            <a:endParaRPr sz="1100">
              <a:solidFill>
                <a:schemeClr val="dk1"/>
              </a:solidFill>
              <a:latin typeface="Lato"/>
              <a:ea typeface="Lato"/>
              <a:cs typeface="Lato"/>
              <a:sym typeface="Lato"/>
            </a:endParaRPr>
          </a:p>
          <a:p>
            <a:pPr indent="-298450" lvl="1" marL="914400" rtl="0" algn="l">
              <a:spcBef>
                <a:spcPts val="0"/>
              </a:spcBef>
              <a:spcAft>
                <a:spcPts val="0"/>
              </a:spcAft>
              <a:buClr>
                <a:schemeClr val="dk1"/>
              </a:buClr>
              <a:buSzPts val="1100"/>
              <a:buFont typeface="Lato"/>
              <a:buChar char="○"/>
            </a:pPr>
            <a:r>
              <a:rPr lang="en" sz="1100">
                <a:solidFill>
                  <a:schemeClr val="dk1"/>
                </a:solidFill>
                <a:latin typeface="Lato"/>
                <a:ea typeface="Lato"/>
                <a:cs typeface="Lato"/>
                <a:sym typeface="Lato"/>
              </a:rPr>
              <a:t>Firmware - 50</a:t>
            </a:r>
            <a:endParaRPr sz="1100">
              <a:solidFill>
                <a:schemeClr val="dk1"/>
              </a:solidFill>
              <a:latin typeface="Lato"/>
              <a:ea typeface="Lato"/>
              <a:cs typeface="Lato"/>
              <a:sym typeface="Lato"/>
            </a:endParaRPr>
          </a:p>
          <a:p>
            <a:pPr indent="-298450" lvl="1" marL="914400" rtl="0" algn="l">
              <a:spcBef>
                <a:spcPts val="0"/>
              </a:spcBef>
              <a:spcAft>
                <a:spcPts val="0"/>
              </a:spcAft>
              <a:buClr>
                <a:schemeClr val="dk1"/>
              </a:buClr>
              <a:buSzPts val="1100"/>
              <a:buFont typeface="Lato"/>
              <a:buChar char="○"/>
            </a:pPr>
            <a:r>
              <a:rPr lang="en" sz="1100">
                <a:solidFill>
                  <a:schemeClr val="dk1"/>
                </a:solidFill>
                <a:latin typeface="Lato"/>
                <a:ea typeface="Lato"/>
                <a:cs typeface="Lato"/>
                <a:sym typeface="Lato"/>
              </a:rPr>
              <a:t>Software - 50</a:t>
            </a:r>
            <a:endParaRPr sz="1100">
              <a:solidFill>
                <a:schemeClr val="dk1"/>
              </a:solidFill>
              <a:latin typeface="Lato"/>
              <a:ea typeface="Lato"/>
              <a:cs typeface="Lato"/>
              <a:sym typeface="Lato"/>
            </a:endParaRPr>
          </a:p>
          <a:p>
            <a:pPr indent="-298450" lvl="0" marL="457200" rtl="0" algn="l">
              <a:spcBef>
                <a:spcPts val="0"/>
              </a:spcBef>
              <a:spcAft>
                <a:spcPts val="0"/>
              </a:spcAft>
              <a:buClr>
                <a:schemeClr val="accent4"/>
              </a:buClr>
              <a:buSzPts val="1100"/>
              <a:buFont typeface="Lato"/>
              <a:buChar char="●"/>
            </a:pPr>
            <a:r>
              <a:rPr lang="en" sz="1100">
                <a:solidFill>
                  <a:schemeClr val="dk1"/>
                </a:solidFill>
                <a:latin typeface="Lato"/>
                <a:ea typeface="Lato"/>
                <a:cs typeface="Lato"/>
                <a:sym typeface="Lato"/>
              </a:rPr>
              <a:t>Total of 150 hours</a:t>
            </a:r>
            <a:endParaRPr sz="1100">
              <a:solidFill>
                <a:schemeClr val="dk1"/>
              </a:solidFill>
              <a:latin typeface="Lato"/>
              <a:ea typeface="Lato"/>
              <a:cs typeface="Lato"/>
              <a:sym typeface="Lato"/>
            </a:endParaRPr>
          </a:p>
          <a:p>
            <a:pPr indent="-298450" lvl="0" marL="457200" rtl="0" algn="l">
              <a:spcBef>
                <a:spcPts val="0"/>
              </a:spcBef>
              <a:spcAft>
                <a:spcPts val="0"/>
              </a:spcAft>
              <a:buClr>
                <a:schemeClr val="accent4"/>
              </a:buClr>
              <a:buSzPts val="1100"/>
              <a:buFont typeface="Lato"/>
              <a:buChar char="●"/>
            </a:pPr>
            <a:r>
              <a:rPr lang="en" sz="1100">
                <a:solidFill>
                  <a:schemeClr val="dk1"/>
                </a:solidFill>
                <a:latin typeface="Lato"/>
                <a:ea typeface="Lato"/>
                <a:cs typeface="Lato"/>
                <a:sym typeface="Lato"/>
              </a:rPr>
              <a:t>Total CDR cost @ $100/hr: $15,000</a:t>
            </a:r>
            <a:endParaRPr sz="1100">
              <a:solidFill>
                <a:schemeClr val="dk1"/>
              </a:solidFill>
              <a:latin typeface="Lato"/>
              <a:ea typeface="Lato"/>
              <a:cs typeface="Lato"/>
              <a:sym typeface="Lato"/>
            </a:endParaRPr>
          </a:p>
          <a:p>
            <a:pPr indent="-298450" lvl="0" marL="457200" rtl="0" algn="l">
              <a:spcBef>
                <a:spcPts val="0"/>
              </a:spcBef>
              <a:spcAft>
                <a:spcPts val="0"/>
              </a:spcAft>
              <a:buClr>
                <a:schemeClr val="accent4"/>
              </a:buClr>
              <a:buSzPts val="1100"/>
              <a:buFont typeface="Lato"/>
              <a:buChar char="●"/>
            </a:pPr>
            <a:r>
              <a:rPr lang="en" sz="1100">
                <a:solidFill>
                  <a:schemeClr val="dk1"/>
                </a:solidFill>
                <a:latin typeface="Lato"/>
                <a:ea typeface="Lato"/>
                <a:cs typeface="Lato"/>
                <a:sym typeface="Lato"/>
              </a:rPr>
              <a:t>Total PDR &amp; CDR: $17,500</a:t>
            </a:r>
            <a:endParaRPr sz="1100">
              <a:solidFill>
                <a:schemeClr val="dk1"/>
              </a:solidFill>
              <a:latin typeface="Lato"/>
              <a:ea typeface="Lato"/>
              <a:cs typeface="Lato"/>
              <a:sym typeface="Lato"/>
            </a:endParaRPr>
          </a:p>
        </p:txBody>
      </p:sp>
      <p:pic>
        <p:nvPicPr>
          <p:cNvPr id="193" name="Google Shape;193;p32"/>
          <p:cNvPicPr preferRelativeResize="0"/>
          <p:nvPr/>
        </p:nvPicPr>
        <p:blipFill>
          <a:blip r:embed="rId3">
            <a:alphaModFix/>
          </a:blip>
          <a:stretch>
            <a:fillRect/>
          </a:stretch>
        </p:blipFill>
        <p:spPr>
          <a:xfrm>
            <a:off x="841863" y="2571750"/>
            <a:ext cx="2768674" cy="1538150"/>
          </a:xfrm>
          <a:prstGeom prst="rect">
            <a:avLst/>
          </a:prstGeom>
          <a:noFill/>
          <a:ln cap="flat" cmpd="sng" w="9525">
            <a:solidFill>
              <a:srgbClr val="000000"/>
            </a:solidFill>
            <a:prstDash val="solid"/>
            <a:round/>
            <a:headEnd len="sm" w="sm" type="none"/>
            <a:tailEnd len="sm" w="sm" type="none"/>
          </a:ln>
        </p:spPr>
      </p:pic>
      <p:sp>
        <p:nvSpPr>
          <p:cNvPr id="194" name="Google Shape;194;p32"/>
          <p:cNvSpPr/>
          <p:nvPr/>
        </p:nvSpPr>
        <p:spPr>
          <a:xfrm>
            <a:off x="0" y="-250"/>
            <a:ext cx="9144000" cy="4149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98" name="Shape 198"/>
        <p:cNvGrpSpPr/>
        <p:nvPr/>
      </p:nvGrpSpPr>
      <p:grpSpPr>
        <a:xfrm>
          <a:off x="0" y="0"/>
          <a:ext cx="0" cy="0"/>
          <a:chOff x="0" y="0"/>
          <a:chExt cx="0" cy="0"/>
        </a:xfrm>
      </p:grpSpPr>
      <p:sp>
        <p:nvSpPr>
          <p:cNvPr id="199" name="Google Shape;199;p33"/>
          <p:cNvSpPr txBox="1"/>
          <p:nvPr>
            <p:ph type="title"/>
          </p:nvPr>
        </p:nvSpPr>
        <p:spPr>
          <a:xfrm>
            <a:off x="311700" y="1986150"/>
            <a:ext cx="8520600" cy="585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3120">
                <a:solidFill>
                  <a:srgbClr val="FFFFFF"/>
                </a:solidFill>
                <a:latin typeface="Droid Sans"/>
                <a:ea typeface="Droid Sans"/>
                <a:cs typeface="Droid Sans"/>
                <a:sym typeface="Droid Sans"/>
              </a:rPr>
              <a:t>Questions?</a:t>
            </a:r>
            <a:endParaRPr sz="3120">
              <a:solidFill>
                <a:srgbClr val="FFFFFF"/>
              </a:solidFill>
              <a:latin typeface="Droid Sans"/>
              <a:ea typeface="Droid Sans"/>
              <a:cs typeface="Droid Sans"/>
              <a:sym typeface="Droid Sa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